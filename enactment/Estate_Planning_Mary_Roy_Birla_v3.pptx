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[Trevor · about 0:45] Stand centre. Pause after the opening question.</a:t>
            </a:r>
          </a:p>
          <a:p>
            <a:r>
              <a:rPr lang="en-US" dirty="0"/>
              <a:t>Good afternoon, everyone. Let me start with two questions. If a wealthy person writes a will, can the family still be in court twenty years later? And if a father dies without a will, can the law quietly decide that his daughter gets a fraction of what her brother gets? [Pause.] The answer to both is yes, and we have a real case for each.</a:t>
            </a:r>
          </a:p>
          <a:p>
            <a:r>
              <a:rPr lang="en-US" dirty="0"/>
              <a:t>We are Trevor, Deepesh, Sahil and Tejas, and our topic is estate planning under the Indian Succession Act, 1925. We picked two famous cases. The first is a will that has been fought over since 2004: the Birla–Lodha dispute. The second is a Supreme Court case about a family with no will: Mary Roy. We will stage the second one live, with you as the audience in the courtroom. First, the framework.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[Trevor · about 1:15] Point to the left card, then the right card.</a:t>
            </a:r>
          </a:p>
          <a:p>
            <a:r>
              <a:rPr lang="en-US" dirty="0"/>
              <a:t>The Act deals with two situations: a person dies without a will, or with one.</a:t>
            </a:r>
          </a:p>
          <a:p>
            <a:r>
              <a:rPr lang="en-US" dirty="0"/>
              <a:t>Without a will, the Act's default rules decide who inherits. Under Section 33, a widow takes one-third of the estate if there are lineal descendants, one-half if only other kindred survive, and the whole estate if there are neither. Parsis are excluded from this chapter by Section 31.</a:t>
            </a:r>
          </a:p>
          <a:p>
            <a:r>
              <a:rPr lang="en-US" dirty="0"/>
              <a:t>With a will, the question changes. The will must be validly executed under Section 63, and in many cases it must be probated under Section 213 before the family can enforce it.</a:t>
            </a:r>
          </a:p>
          <a:p>
            <a:r>
              <a:rPr lang="en-US" dirty="0"/>
              <a:t>Our two cases sit on either side of that line. The Birla–Lodha dispute is a will that is still being fought over. Mary Roy is a family that had no will, and the law decided for them. Deepesh will start with the will.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[Deepesh · about 2:00] Step forward as Trevor hands over. Read the three cards left to right: the will, the fight, the lesson.</a:t>
            </a:r>
          </a:p>
          <a:p>
            <a:r>
              <a:rPr lang="en-US" dirty="0"/>
              <a:t>Thank you, Trevor. Our first case is one of India's best-known will disputes. Priyamvada Devi Birla was the widow of M.P. Birla, and they had no children. When she died in 2004, a will dated 1999 came forward. It left her estate to R.S. Lodha, a chartered accountant who had been the group's auditor and adviser, and who was also named its executor.</a:t>
            </a:r>
          </a:p>
          <a:p>
            <a:r>
              <a:rPr lang="en-US" dirty="0"/>
              <a:t>The Birla family contested it. They pointed to an earlier joint will with her husband, and as reported, they expected the wealth to go to charitable trusts. The estate was reported to be worth thousands of crores and carried control of listed Birla group companies.</a:t>
            </a:r>
          </a:p>
          <a:p>
            <a:r>
              <a:rPr lang="en-US" dirty="0"/>
              <a:t>Lodha applied for probate in 2004, and the fight has not stopped. At one stage there were more than 100 cases. In March 2008 the Supreme Court dealt with who has the right to oppose probate at all. A court-appointed committee has administered the estate while the fight continues.</a:t>
            </a:r>
          </a:p>
          <a:p>
            <a:r>
              <a:rPr lang="en-US" dirty="0"/>
              <a:t>For planning, three things stand out. First, a will does not end a dispute by itself; it starts the probate process. Second, rival wills and unclear executors invite years of litigation. Third, a will is more likely to hold if it is one clear, current document and the family has been told why. We chose not to enact this one because the question of the will's validity is still open, so there is no verdict to act out. For a courtroom with a clear ruling, we turn to the other side of the line. Sahil will set up the hearing.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[Sahil · about 1:15] Judges take their seats while Sahil speaks. Take the audience vote. Click to slide 5 on the last line.</a:t>
            </a:r>
          </a:p>
          <a:p>
            <a:r>
              <a:rPr lang="en-US" dirty="0"/>
              <a:t>Thank you, Deepesh. The Birla case shows a will under attack. Now let us look at what happens when there is no will at all.</a:t>
            </a:r>
          </a:p>
          <a:p>
            <a:r>
              <a:rPr lang="en-US" dirty="0"/>
              <a:t>We will enact the Supreme Court hearing in Mary Roy v. State of Kerala, decided on 24 February 1986. Mary Roy, an educator from Kerala and the mother of the writer Arundhati Roy, was a Syrian Christian. Her father, P. V. Isaac, died in 1960 without a will. Under the Travancore Christian Succession Act, a daughter received a fourth of a son's share or five thousand rupees, whichever was less. Mary Roy sued her brother, lost in the lower court, and went to the Supreme Court in 1983.</a:t>
            </a:r>
          </a:p>
          <a:p>
            <a:r>
              <a:rPr lang="en-US" dirty="0"/>
              <a:t>Our cast: Trevor and Deepesh are the bench. I argue for Mary Roy. Tejas argues for the State of Kerala.</a:t>
            </a:r>
          </a:p>
          <a:p>
            <a:r>
              <a:rPr lang="en-US" dirty="0"/>
              <a:t>Before we begin, a show of hands. The old Act gave the daughter a small fraction. When the Supreme Court decided, did it strike the law down as unconstitutional, or did it find the law was already gone? Hands up for unconstitutional. [Count.] Hands up for already gone. [Count.] Remember your vote.</a:t>
            </a:r>
          </a:p>
          <a:p>
            <a:r>
              <a:rPr lang="en-US" dirty="0"/>
              <a:t>[CUE: Click to slide 5. Counsel stand at their marks. Trevor taps the table.]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[Trevor, Deepesh, Sahil, Tejas · about 5:00] Slide stays up. Everyone speaks from the enactment script (Part C). Do not read the slide aloud.</a:t>
            </a:r>
          </a:p>
          <a:p>
            <a:r>
              <a:rPr lang="en-US" dirty="0"/>
              <a:t>Scene 1, opening and facts: about 1 minute (Trevor and Deepesh).</a:t>
            </a:r>
          </a:p>
          <a:p>
            <a:r>
              <a:rPr lang="en-US" dirty="0"/>
              <a:t>Scene 2, counsel for Mary Roy: about 1 minute 30 seconds (Sahil).</a:t>
            </a:r>
          </a:p>
          <a:p>
            <a:r>
              <a:rPr lang="en-US" dirty="0"/>
              <a:t>Scene 3, counsel for the State of Kerala: about 1 minute 30 seconds (Tejas).</a:t>
            </a:r>
          </a:p>
          <a:p>
            <a:r>
              <a:rPr lang="en-US" dirty="0"/>
              <a:t>Scene 4, questions from the bench: about 1 minute.</a:t>
            </a:r>
          </a:p>
          <a:p>
            <a:r>
              <a:rPr lang="en-US" dirty="0"/>
              <a:t>Opening line: "Order, order. The court is in session." Last line of Scene 4: "Thank you, counsel. The court will confer."</a:t>
            </a:r>
          </a:p>
          <a:p>
            <a:r>
              <a:rPr lang="en-US" dirty="0"/>
              <a:t>[CUE: When Trevor says "The court will confer", Deepesh clicks to slide 6.]</a:t>
            </a:r>
          </a:p>
          <a:p>
            <a:r>
              <a:rPr lang="en-US" dirty="0"/>
              <a:t>If running long, drop the two short bench interruptions in Scenes 2 and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[Trevor, Deepesh, then Sahil · about 2:30] Judges deliver the verdict (Scene 5). Then Sahil steps out of role for the debrief.</a:t>
            </a:r>
          </a:p>
          <a:p>
            <a:r>
              <a:rPr lang="en-US" dirty="0"/>
              <a:t>Scene 5, the verdict: about 1 minute 30 seconds (Trevor and Deepesh), from the enactment script. Last line: "We declare accordingly." Trevor taps the table. Everyone freezes for three seconds, then steps out of role.</a:t>
            </a:r>
          </a:p>
          <a:p>
            <a:r>
              <a:rPr lang="en-US" dirty="0"/>
              <a:t>DEBRIEF (Sahil, about 45 seconds): "That is the judgment. Back to your votes: who said already gone? The Court never decided whether the old Act was unconstitutional. It found that the Travancore Act had been repealed in 1951, thirty-five years before the case was decided. For three decades, families had been living under a law that no longer existed. And notice how it started: Mary Roy's father left no will, so the default rules decided everything. Reportedly, even after the ruling she needed a further civil suit, and received her share only in 2006."</a:t>
            </a:r>
          </a:p>
          <a:p>
            <a:r>
              <a:rPr lang="en-US" dirty="0"/>
              <a:t>HANDOFF: "Tejas will turn the two cases into a checklist."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[Tejas · about 1:30] Walk down the table row by row.</a:t>
            </a:r>
          </a:p>
          <a:p>
            <a:r>
              <a:rPr lang="en-US" dirty="0"/>
              <a:t>Let us put the two cases into a checklist.</a:t>
            </a:r>
          </a:p>
          <a:p>
            <a:r>
              <a:rPr lang="en-US" dirty="0"/>
              <a:t>Step one: decide to make a will. Without one, the Act's default rules decide, and in Mary Roy's case the old law gave a daughter a fraction of her brother's share.</a:t>
            </a:r>
          </a:p>
          <a:p>
            <a:r>
              <a:rPr lang="en-US" dirty="0"/>
              <a:t>Step two: confirm which succession law governs the family. Mary Roy again: the family had lived under a law that had been repealed in 1951.</a:t>
            </a:r>
          </a:p>
          <a:p>
            <a:r>
              <a:rPr lang="en-US" dirty="0"/>
              <a:t>Step three: keep one clear, current will, and name executors who can act. In the Birla–Lodha dispute, rival wills and a fight over who may oppose probate have run for twenty years.</a:t>
            </a:r>
          </a:p>
          <a:p>
            <a:r>
              <a:rPr lang="en-US" dirty="0"/>
              <a:t>Step four: explain any exclusion, and plan the probate route early. The Birla family's challenge started with a will that surprised the family. Telling the family why, and how the estate will be administered, narrows the room for a fight.</a:t>
            </a:r>
          </a:p>
          <a:p>
            <a:r>
              <a:rPr lang="en-US" dirty="0"/>
              <a:t>If you remember one line: no will, the law decides. A contested will, the courts decide, often for years. This is a class presentation and not legal advice. A real estate plan needs a lawyer who knows the family's circumstances.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 about 1:00+] Stand together. Answer from the Q&amp;A prep sheet (Part E). The first speaker to catch the question answers; pass to the case owner if it is about their case.</a:t>
            </a:r>
          </a:p>
          <a:p>
            <a:r>
              <a:rPr lang="en-US" dirty="0"/>
              <a:t>Thank you for listening. We are happy to take questions.</a:t>
            </a:r>
          </a:p>
          <a:p>
            <a:r>
              <a:rPr lang="en-US" dirty="0"/>
              <a:t>Case owners: the framework, Trevor. The Birla–Lodha will, Deepesh. The hearing for Mary Roy, Sahil. The hearing for the State and the checklist, Tejas.</a:t>
            </a:r>
          </a:p>
          <a:p>
            <a:r>
              <a:rPr lang="en-US" dirty="0"/>
              <a:t>If someone asks where to read more: Mary Roy v. State of Kerala ((1986) 2 SCC 209, decided 24 February 1986, WP (Civil) 8260 of 1983, bench of Chief Justice P. N. Bhagwati and Justice R. S. Pathak; summary at https://www.livelaw.in/amp/news-updates/mary-roy-petitioner-in-landmark-verdict-giving-equal-rights-for-daughters-in-christian-succession-passes-away-208078 and https://bnblegal.com/landmark/mary-roy-v-s-state-kerala/). Krishna Kumar Birla v. Rajendra Singh Lodha ((2008) 4 SCC 300, 31 March 2008; https://indiankanoon.org/doc/240495/). The Section 33 summary is from the bare Act at https://www.advocatekhoj.com/library/bareacts/indiansuccession/6.php.</a:t>
            </a:r>
          </a:p>
          <a:p>
            <a:r>
              <a:rPr lang="en-US" dirty="0"/>
              <a:t>We worked from summaries of both judgments. Read the full text before you quote either.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4213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42"/>
            <a:ext cx="10566400" cy="502885"/>
          </a:xfrm>
          <a:prstGeom prst="rect">
            <a:avLst/>
          </a:prstGeom>
          <a:noFill/>
          <a:ln/>
        </p:spPr>
        <p:txBody>
          <a:bodyPr wrap="square" lIns="0" tIns="0" rIns="0" bIns="0" rtlCol="0" anchor="t"/>
          <a:lstStyle>
            <a:lvl1pPr algn="l" indent="0" marL="0">
              <a:lnSpc>
                <a:spcPct val="115000"/>
              </a:lnSpc>
              <a:buNone/>
              <a:defRPr lang="en-US" sz="3600" dirty="0">
                <a:solidFill>
                  <a:srgbClr val="F7F4EC"/>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27"/>
            <a:ext cx="10566400" cy="3957373"/>
          </a:xfrm>
          <a:prstGeom prst="rect">
            <a:avLst/>
          </a:prstGeom>
          <a:noFill/>
          <a:ln/>
        </p:spPr>
        <p:txBody>
          <a:bodyPr wrap="square" lIns="0" tIns="0" rIns="0" bIns="0" rtlCol="0" anchor="t"/>
          <a:lstStyle>
            <a:lvl1pPr algn="l" indent="0" marL="0">
              <a:lnSpc>
                <a:spcPct val="140000"/>
              </a:lnSpc>
              <a:buNone/>
              <a:defRPr lang="en-US" sz="1600" dirty="0">
                <a:solidFill>
                  <a:srgbClr val="F7F4EC"/>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4213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42"/>
            <a:ext cx="10566400" cy="502885"/>
          </a:xfrm>
          <a:prstGeom prst="rect">
            <a:avLst/>
          </a:prstGeom>
          <a:noFill/>
          <a:ln/>
        </p:spPr>
        <p:txBody>
          <a:bodyPr wrap="square" lIns="0" tIns="0" rIns="0" bIns="0" rtlCol="0" anchor="t"/>
          <a:lstStyle>
            <a:lvl1pPr algn="l" indent="0" marL="0">
              <a:lnSpc>
                <a:spcPct val="115000"/>
              </a:lnSpc>
              <a:buNone/>
              <a:defRPr lang="en-US" sz="3600" dirty="0">
                <a:solidFill>
                  <a:srgbClr val="F7F4EC"/>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27"/>
            <a:ext cx="10566400" cy="3957373"/>
          </a:xfrm>
          <a:prstGeom prst="rect">
            <a:avLst/>
          </a:prstGeom>
          <a:noFill/>
          <a:ln/>
        </p:spPr>
        <p:txBody>
          <a:bodyPr wrap="square" lIns="0" tIns="0" rIns="0" bIns="0" rtlCol="0" anchor="t"/>
          <a:lstStyle>
            <a:lvl1pPr algn="l" indent="0" marL="0">
              <a:lnSpc>
                <a:spcPct val="140000"/>
              </a:lnSpc>
              <a:buNone/>
              <a:defRPr lang="en-US" sz="1600" dirty="0">
                <a:solidFill>
                  <a:srgbClr val="F7F4EC"/>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633273"/>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973A"/>
                </a:solidFill>
                <a:latin typeface="Arial" pitchFamily="34" charset="0"/>
                <a:ea typeface="Arial" pitchFamily="34" charset="-122"/>
                <a:cs typeface="Arial" pitchFamily="34" charset="-120"/>
              </a:rPr>
              <a:t>ESTATE PLANNING · GROUP PRESENTATION</a:t>
            </a:r>
            <a:endParaRPr lang="en-US" sz="1200" dirty="0"/>
          </a:p>
        </p:txBody>
      </p:sp>
      <p:sp>
        <p:nvSpPr>
          <p:cNvPr id="3" name="Text 1"/>
          <p:cNvSpPr/>
          <p:nvPr>
            <p:ph type="title"/>
          </p:nvPr>
        </p:nvSpPr>
        <p:spPr>
          <a:xfrm>
            <a:off x="812800" y="2100615"/>
            <a:ext cx="10883392" cy="1366485"/>
          </a:xfrm>
          <a:prstGeom prst="rect">
            <a:avLst/>
          </a:prstGeom>
          <a:noFill/>
          <a:ln/>
        </p:spPr>
        <p:txBody>
          <a:bodyPr wrap="square" lIns="0" tIns="0" rIns="0" bIns="0" rtlCol="0" anchor="t">
            <a:normAutofit/>
          </a:bodyPr>
          <a:lstStyle/>
          <a:p>
            <a:pPr algn="l" indent="0" marL="0">
              <a:lnSpc>
                <a:spcPts val="5280"/>
              </a:lnSpc>
              <a:buNone/>
            </a:pPr>
            <a:r>
              <a:rPr lang="en-US" sz="4800" b="0" i="0" dirty="0">
                <a:solidFill>
                  <a:srgbClr val="F7F4EC"/>
                </a:solidFill>
                <a:latin typeface="Georgia" pitchFamily="18" charset="0"/>
                <a:ea typeface="Georgia" pitchFamily="18" charset="-122"/>
                <a:cs typeface="Georgia" pitchFamily="18" charset="-120"/>
              </a:rPr>
              <a:t>Estate Planning under the Indian Succession Act, 1925</a:t>
            </a:r>
            <a:endParaRPr lang="en-US" sz="4800" dirty="0"/>
          </a:p>
        </p:txBody>
      </p:sp>
      <p:pic>
        <p:nvPicPr>
          <p:cNvPr id="4" name="Image 0" descr="line">    </p:cNvPr>
          <p:cNvPicPr>
            <a:picLocks noChangeAspect="1"/>
          </p:cNvPicPr>
          <p:nvPr/>
        </p:nvPicPr>
        <p:blipFill>
          <a:blip r:embed="rId1"/>
          <a:srcRect l="0" r="0" t="0" b="0"/>
          <a:stretch/>
        </p:blipFill>
        <p:spPr>
          <a:xfrm>
            <a:off x="812800" y="3695700"/>
            <a:ext cx="1016000" cy="25400"/>
          </a:xfrm>
          <a:prstGeom prst="rect">
            <a:avLst/>
          </a:prstGeom>
        </p:spPr>
      </p:pic>
      <p:sp>
        <p:nvSpPr>
          <p:cNvPr id="5" name="Text 2"/>
          <p:cNvSpPr/>
          <p:nvPr/>
        </p:nvSpPr>
        <p:spPr>
          <a:xfrm>
            <a:off x="812800" y="3975100"/>
            <a:ext cx="10883392" cy="360627"/>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DCE2F0"/>
                </a:solidFill>
                <a:latin typeface="Arial" pitchFamily="34" charset="0"/>
                <a:ea typeface="Arial" pitchFamily="34" charset="-122"/>
                <a:cs typeface="Arial" pitchFamily="34" charset="-120"/>
              </a:rPr>
              <a:t>Lessons from two famous cases: a will in court, and a family with no will</a:t>
            </a:r>
            <a:endParaRPr lang="en-US" sz="2200" dirty="0"/>
          </a:p>
        </p:txBody>
      </p:sp>
      <p:sp>
        <p:nvSpPr>
          <p:cNvPr id="6" name="Text 3"/>
          <p:cNvSpPr/>
          <p:nvPr/>
        </p:nvSpPr>
        <p:spPr>
          <a:xfrm>
            <a:off x="812800" y="4564327"/>
            <a:ext cx="10883392"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7C0D4"/>
                </a:solidFill>
                <a:latin typeface="Arial" pitchFamily="34" charset="0"/>
                <a:ea typeface="Arial" pitchFamily="34" charset="-122"/>
                <a:cs typeface="Arial" pitchFamily="34" charset="-120"/>
              </a:rPr>
              <a:t>MSF07 Trevor Dcosta · MSF13 Deepesh Gupta · MSF20 Sahil Nathwani · MSF24 Tejas Patil</a:t>
            </a:r>
            <a:endParaRPr lang="en-US" sz="1200" dirty="0"/>
          </a:p>
          <a:p>
            <a:pPr algn="l" indent="0" marL="0">
              <a:lnSpc>
                <a:spcPts val="1800"/>
              </a:lnSpc>
              <a:buNone/>
            </a:pPr>
            <a:r>
              <a:rPr lang="en-US" sz="1200" dirty="0">
                <a:solidFill>
                  <a:srgbClr val="B7C0D4"/>
                </a:solidFill>
                <a:latin typeface="Arial" pitchFamily="34" charset="0"/>
                <a:ea typeface="Arial" pitchFamily="34" charset="-122"/>
                <a:cs typeface="Arial" pitchFamily="34" charset="-120"/>
              </a:rPr>
              <a:t>MSc Finance, SIMSREE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2D3B"/>
                </a:solidFill>
                <a:latin typeface="Arial" pitchFamily="34" charset="0"/>
                <a:ea typeface="Arial" pitchFamily="34" charset="-122"/>
                <a:cs typeface="Arial" pitchFamily="34" charset="-120"/>
              </a:rPr>
              <a:t>THE FRAMEWORK</a:t>
            </a:r>
            <a:endParaRPr lang="en-US" sz="1200" dirty="0"/>
          </a:p>
        </p:txBody>
      </p:sp>
      <p:sp>
        <p:nvSpPr>
          <p:cNvPr id="3" name="Text 1"/>
          <p:cNvSpPr/>
          <p:nvPr>
            <p:ph type="title"/>
          </p:nvPr>
        </p:nvSpPr>
        <p:spPr>
          <a:xfrm>
            <a:off x="812800" y="1280143"/>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13D"/>
                </a:solidFill>
                <a:latin typeface="Georgia" pitchFamily="18" charset="0"/>
                <a:ea typeface="Georgia" pitchFamily="18" charset="-122"/>
                <a:cs typeface="Georgia" pitchFamily="18" charset="-120"/>
              </a:rPr>
              <a:t>The Act at a glance: with a will, or without</a:t>
            </a:r>
            <a:endParaRPr lang="en-US" sz="3600" dirty="0"/>
          </a:p>
        </p:txBody>
      </p:sp>
      <p:sp>
        <p:nvSpPr>
          <p:cNvPr id="4" name="Shape 2"/>
          <p:cNvSpPr/>
          <p:nvPr/>
        </p:nvSpPr>
        <p:spPr>
          <a:xfrm>
            <a:off x="815975" y="2040202"/>
            <a:ext cx="5180895" cy="2087474"/>
          </a:xfrm>
          <a:prstGeom prst="roundRect">
            <a:avLst>
              <a:gd name="adj" fmla="val 4715"/>
            </a:avLst>
          </a:prstGeom>
          <a:solidFill>
            <a:srgbClr val="FFFDF8"/>
          </a:solidFill>
          <a:ln w="6350">
            <a:solidFill>
              <a:srgbClr val="DDD6C4"/>
            </a:solidFill>
            <a:prstDash val="solid"/>
          </a:ln>
        </p:spPr>
      </p:sp>
      <p:sp>
        <p:nvSpPr>
          <p:cNvPr id="5" name="Text 3"/>
          <p:cNvSpPr/>
          <p:nvPr/>
        </p:nvSpPr>
        <p:spPr>
          <a:xfrm>
            <a:off x="1072444" y="2296671"/>
            <a:ext cx="4807994"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A2D3B"/>
                </a:solidFill>
                <a:latin typeface="Georgia" pitchFamily="18" charset="0"/>
                <a:ea typeface="Georgia" pitchFamily="18" charset="-122"/>
                <a:cs typeface="Georgia" pitchFamily="18" charset="-120"/>
              </a:rPr>
              <a:t>No will (intestate)</a:t>
            </a:r>
            <a:endParaRPr lang="en-US" sz="2200" dirty="0"/>
          </a:p>
        </p:txBody>
      </p:sp>
      <p:sp>
        <p:nvSpPr>
          <p:cNvPr id="6" name="Text 4"/>
          <p:cNvSpPr/>
          <p:nvPr/>
        </p:nvSpPr>
        <p:spPr>
          <a:xfrm>
            <a:off x="1072444" y="2733499"/>
            <a:ext cx="4807994"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3652"/>
                </a:solidFill>
                <a:latin typeface="Arial" pitchFamily="34" charset="0"/>
                <a:ea typeface="Arial" pitchFamily="34" charset="-122"/>
                <a:cs typeface="Arial" pitchFamily="34" charset="-120"/>
              </a:rPr>
              <a:t>The Act’s default rules apply. Under Section 33, a widow takes one-third if there are lineal descendants, one-half if only kindred survive, and everything if neither.</a:t>
            </a:r>
            <a:endParaRPr lang="en-US" sz="1600" dirty="0"/>
          </a:p>
        </p:txBody>
      </p:sp>
      <p:sp>
        <p:nvSpPr>
          <p:cNvPr id="7" name="Shape 5"/>
          <p:cNvSpPr/>
          <p:nvPr/>
        </p:nvSpPr>
        <p:spPr>
          <a:xfrm>
            <a:off x="6203245" y="2037027"/>
            <a:ext cx="5175956" cy="2093824"/>
          </a:xfrm>
          <a:prstGeom prst="roundRect">
            <a:avLst>
              <a:gd name="adj" fmla="val 4852"/>
            </a:avLst>
          </a:prstGeom>
          <a:solidFill>
            <a:srgbClr val="14213D"/>
          </a:solidFill>
          <a:ln/>
        </p:spPr>
      </p:sp>
      <p:sp>
        <p:nvSpPr>
          <p:cNvPr id="8" name="Text 6"/>
          <p:cNvSpPr/>
          <p:nvPr/>
        </p:nvSpPr>
        <p:spPr>
          <a:xfrm>
            <a:off x="6457245" y="2291027"/>
            <a:ext cx="4807994"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A will (testate)</a:t>
            </a:r>
            <a:endParaRPr lang="en-US" sz="2200" dirty="0"/>
          </a:p>
        </p:txBody>
      </p:sp>
      <p:sp>
        <p:nvSpPr>
          <p:cNvPr id="9" name="Text 7"/>
          <p:cNvSpPr/>
          <p:nvPr/>
        </p:nvSpPr>
        <p:spPr>
          <a:xfrm>
            <a:off x="6457245" y="2727854"/>
            <a:ext cx="4807994"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4EC"/>
                </a:solidFill>
                <a:latin typeface="Arial" pitchFamily="34" charset="0"/>
                <a:ea typeface="Arial" pitchFamily="34" charset="-122"/>
                <a:cs typeface="Arial" pitchFamily="34" charset="-120"/>
              </a:rPr>
              <a:t>The will must be validly executed (Section 63) and, in many cases, probated (Section 213) before the family can enforce it.</a:t>
            </a:r>
            <a:endParaRPr lang="en-US" sz="1600" dirty="0"/>
          </a:p>
        </p:txBody>
      </p:sp>
      <p:sp>
        <p:nvSpPr>
          <p:cNvPr id="10" name="Text 8"/>
          <p:cNvSpPr/>
          <p:nvPr/>
        </p:nvSpPr>
        <p:spPr>
          <a:xfrm>
            <a:off x="812800" y="4384852"/>
            <a:ext cx="10883392" cy="594254"/>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B3652"/>
                </a:solidFill>
                <a:latin typeface="Arial" pitchFamily="34" charset="0"/>
                <a:ea typeface="Arial" pitchFamily="34" charset="-122"/>
                <a:cs typeface="Arial" pitchFamily="34" charset="-120"/>
              </a:rPr>
              <a:t>Two cases:</a:t>
            </a:r>
            <a:r>
              <a:rPr lang="en-US" sz="1600" dirty="0">
                <a:solidFill>
                  <a:srgbClr val="2B3652"/>
                </a:solidFill>
                <a:latin typeface="Arial" pitchFamily="34" charset="0"/>
                <a:ea typeface="Arial" pitchFamily="34" charset="-122"/>
                <a:cs typeface="Arial" pitchFamily="34" charset="-120"/>
              </a:rPr>
              <a:t> the Birla–Lodha will dispute (a will, still in court) and Mary Roy (no will, enacted).</a:t>
            </a:r>
            <a:endParaRPr lang="en-US" sz="1600" dirty="0"/>
          </a:p>
        </p:txBody>
      </p:sp>
      <p:sp>
        <p:nvSpPr>
          <p:cNvPr id="11" name="Text 9"/>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5"/>
                </a:solidFill>
                <a:latin typeface="Arial" pitchFamily="34" charset="0"/>
                <a:ea typeface="Arial" pitchFamily="34" charset="-122"/>
                <a:cs typeface="Arial" pitchFamily="34" charset="-120"/>
              </a:rPr>
              <a:t>Section 33 summary from the bare Act; Chapter II does not apply to Parsis (Section 31)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973A"/>
                </a:solidFill>
                <a:latin typeface="Arial" pitchFamily="34" charset="0"/>
                <a:ea typeface="Arial" pitchFamily="34" charset="-122"/>
                <a:cs typeface="Arial" pitchFamily="34" charset="-120"/>
              </a:rPr>
              <a:t>CASE 1 · A WILL · THE BIRLA–LODHA PROBATE BATTLE</a:t>
            </a:r>
            <a:endParaRPr lang="en-US" sz="1200" dirty="0"/>
          </a:p>
        </p:txBody>
      </p:sp>
      <p:sp>
        <p:nvSpPr>
          <p:cNvPr id="3" name="Text 1"/>
          <p:cNvSpPr/>
          <p:nvPr>
            <p:ph type="title"/>
          </p:nvPr>
        </p:nvSpPr>
        <p:spPr>
          <a:xfrm>
            <a:off x="812800" y="12801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7F4EC"/>
                </a:solidFill>
                <a:latin typeface="Georgia" pitchFamily="18" charset="0"/>
                <a:ea typeface="Georgia" pitchFamily="18" charset="-122"/>
                <a:cs typeface="Georgia" pitchFamily="18" charset="-120"/>
              </a:rPr>
              <a:t>One will, twenty years in court</a:t>
            </a:r>
            <a:endParaRPr lang="en-US" sz="3600" dirty="0"/>
          </a:p>
        </p:txBody>
      </p:sp>
      <p:sp>
        <p:nvSpPr>
          <p:cNvPr id="4" name="Shape 2"/>
          <p:cNvSpPr/>
          <p:nvPr/>
        </p:nvSpPr>
        <p:spPr>
          <a:xfrm>
            <a:off x="812800" y="2037028"/>
            <a:ext cx="3386667" cy="2651390"/>
          </a:xfrm>
          <a:prstGeom prst="roundRect">
            <a:avLst>
              <a:gd name="adj" fmla="val 3832"/>
            </a:avLst>
          </a:prstGeom>
          <a:solidFill>
            <a:srgbClr val="1F3158"/>
          </a:solidFill>
          <a:ln/>
        </p:spPr>
      </p:sp>
      <p:sp>
        <p:nvSpPr>
          <p:cNvPr id="5" name="Text 3"/>
          <p:cNvSpPr/>
          <p:nvPr/>
        </p:nvSpPr>
        <p:spPr>
          <a:xfrm>
            <a:off x="1066800" y="2291028"/>
            <a:ext cx="296502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The will</a:t>
            </a:r>
            <a:endParaRPr lang="en-US" sz="2200" dirty="0"/>
          </a:p>
        </p:txBody>
      </p:sp>
      <p:sp>
        <p:nvSpPr>
          <p:cNvPr id="6" name="Text 4"/>
          <p:cNvSpPr/>
          <p:nvPr/>
        </p:nvSpPr>
        <p:spPr>
          <a:xfrm>
            <a:off x="1066800" y="2727854"/>
            <a:ext cx="2965027" cy="144753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2F0"/>
                </a:solidFill>
                <a:latin typeface="Arial" pitchFamily="34" charset="0"/>
                <a:ea typeface="Arial" pitchFamily="34" charset="-122"/>
                <a:cs typeface="Arial" pitchFamily="34" charset="-120"/>
              </a:rPr>
              <a:t>Priyamvada Birla, widow of M.P. Birla, left a will dated 1999 giving her estate to R.S. Lodha. The Birla family contested it.</a:t>
            </a:r>
            <a:endParaRPr lang="en-US" sz="1600" dirty="0"/>
          </a:p>
        </p:txBody>
      </p:sp>
      <p:sp>
        <p:nvSpPr>
          <p:cNvPr id="7" name="Shape 5"/>
          <p:cNvSpPr/>
          <p:nvPr/>
        </p:nvSpPr>
        <p:spPr>
          <a:xfrm>
            <a:off x="4402667" y="2037028"/>
            <a:ext cx="3386667" cy="2651390"/>
          </a:xfrm>
          <a:prstGeom prst="roundRect">
            <a:avLst>
              <a:gd name="adj" fmla="val 3832"/>
            </a:avLst>
          </a:prstGeom>
          <a:solidFill>
            <a:srgbClr val="1F3158"/>
          </a:solidFill>
          <a:ln/>
        </p:spPr>
      </p:sp>
      <p:sp>
        <p:nvSpPr>
          <p:cNvPr id="8" name="Text 6"/>
          <p:cNvSpPr/>
          <p:nvPr/>
        </p:nvSpPr>
        <p:spPr>
          <a:xfrm>
            <a:off x="4656667" y="2291028"/>
            <a:ext cx="296502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The fight</a:t>
            </a:r>
            <a:endParaRPr lang="en-US" sz="2200" dirty="0"/>
          </a:p>
        </p:txBody>
      </p:sp>
      <p:sp>
        <p:nvSpPr>
          <p:cNvPr id="9" name="Text 7"/>
          <p:cNvSpPr/>
          <p:nvPr/>
        </p:nvSpPr>
        <p:spPr>
          <a:xfrm>
            <a:off x="4656667" y="2727854"/>
            <a:ext cx="2965027" cy="1731963"/>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2F0"/>
                </a:solidFill>
                <a:latin typeface="Arial" pitchFamily="34" charset="0"/>
                <a:ea typeface="Arial" pitchFamily="34" charset="-122"/>
                <a:cs typeface="Arial" pitchFamily="34" charset="-120"/>
              </a:rPr>
              <a:t>Probate has run since 2004 and at one stage spanned over 100 cases. In 2008 the Supreme Court ruled on who may oppose probate.</a:t>
            </a:r>
            <a:endParaRPr lang="en-US" sz="1600" dirty="0"/>
          </a:p>
        </p:txBody>
      </p:sp>
      <p:sp>
        <p:nvSpPr>
          <p:cNvPr id="10" name="Shape 8"/>
          <p:cNvSpPr/>
          <p:nvPr/>
        </p:nvSpPr>
        <p:spPr>
          <a:xfrm>
            <a:off x="7992533" y="2037028"/>
            <a:ext cx="3386667" cy="2651390"/>
          </a:xfrm>
          <a:prstGeom prst="roundRect">
            <a:avLst>
              <a:gd name="adj" fmla="val 3832"/>
            </a:avLst>
          </a:prstGeom>
          <a:solidFill>
            <a:srgbClr val="C9973A"/>
          </a:solidFill>
          <a:ln/>
        </p:spPr>
      </p:sp>
      <p:sp>
        <p:nvSpPr>
          <p:cNvPr id="11" name="Text 9"/>
          <p:cNvSpPr/>
          <p:nvPr/>
        </p:nvSpPr>
        <p:spPr>
          <a:xfrm>
            <a:off x="8246533" y="2291028"/>
            <a:ext cx="2965027" cy="639939"/>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4213D"/>
                </a:solidFill>
                <a:latin typeface="Georgia" pitchFamily="18" charset="0"/>
                <a:ea typeface="Georgia" pitchFamily="18" charset="-122"/>
                <a:cs typeface="Georgia" pitchFamily="18" charset="-120"/>
              </a:rPr>
              <a:t>The planning lesson</a:t>
            </a:r>
            <a:endParaRPr lang="en-US" sz="2200" dirty="0"/>
          </a:p>
        </p:txBody>
      </p:sp>
      <p:sp>
        <p:nvSpPr>
          <p:cNvPr id="12" name="Text 10"/>
          <p:cNvSpPr/>
          <p:nvPr/>
        </p:nvSpPr>
        <p:spPr>
          <a:xfrm>
            <a:off x="8246533" y="3007167"/>
            <a:ext cx="2965027"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Keep one clear, current will and name executors. Rival wills invite years of litigation.</a:t>
            </a:r>
            <a:endParaRPr lang="en-US" sz="1600" dirty="0"/>
          </a:p>
        </p:txBody>
      </p:sp>
      <p:sp>
        <p:nvSpPr>
          <p:cNvPr id="13" name="Text 11"/>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D4"/>
                </a:solidFill>
                <a:latin typeface="Arial" pitchFamily="34" charset="0"/>
                <a:ea typeface="Arial" pitchFamily="34" charset="-122"/>
                <a:cs typeface="Arial" pitchFamily="34" charset="-120"/>
              </a:rPr>
              <a:t>Case 1 · A will contested · Birla–Lodha (Calcutta HC and SC)</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C997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13D"/>
                </a:solidFill>
                <a:latin typeface="Arial" pitchFamily="34" charset="0"/>
                <a:ea typeface="Arial" pitchFamily="34" charset="-122"/>
                <a:cs typeface="Arial" pitchFamily="34" charset="-120"/>
              </a:rPr>
              <a:t>CASE 2 · ENACTMENT · SUPREME COURT, 24 FEBRUARY 1986 ((1986) 2 SCC 209)</a:t>
            </a:r>
            <a:endParaRPr lang="en-US" sz="1200" dirty="0"/>
          </a:p>
        </p:txBody>
      </p:sp>
      <p:sp>
        <p:nvSpPr>
          <p:cNvPr id="3" name="Text 1"/>
          <p:cNvSpPr/>
          <p:nvPr>
            <p:ph type="title"/>
          </p:nvPr>
        </p:nvSpPr>
        <p:spPr>
          <a:xfrm>
            <a:off x="812800" y="12801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Georgia" pitchFamily="18" charset="0"/>
                <a:ea typeface="Georgia" pitchFamily="18" charset="-122"/>
                <a:cs typeface="Georgia" pitchFamily="18" charset="-120"/>
              </a:rPr>
              <a:t>Mary Roy v. State of Kerala</a:t>
            </a:r>
            <a:endParaRPr lang="en-US" sz="3600" dirty="0"/>
          </a:p>
        </p:txBody>
      </p:sp>
      <p:sp>
        <p:nvSpPr>
          <p:cNvPr id="4" name="Shape 2"/>
          <p:cNvSpPr/>
          <p:nvPr/>
        </p:nvSpPr>
        <p:spPr>
          <a:xfrm>
            <a:off x="812800" y="2037026"/>
            <a:ext cx="6116285" cy="3220244"/>
          </a:xfrm>
          <a:prstGeom prst="roundRect">
            <a:avLst>
              <a:gd name="adj" fmla="val 3155"/>
            </a:avLst>
          </a:prstGeom>
          <a:solidFill>
            <a:srgbClr val="14213D"/>
          </a:solidFill>
          <a:ln/>
        </p:spPr>
      </p:sp>
      <p:sp>
        <p:nvSpPr>
          <p:cNvPr id="5" name="Text 3"/>
          <p:cNvSpPr/>
          <p:nvPr/>
        </p:nvSpPr>
        <p:spPr>
          <a:xfrm>
            <a:off x="1066800" y="2291026"/>
            <a:ext cx="5776533"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The facts</a:t>
            </a:r>
            <a:endParaRPr lang="en-US" sz="2200" dirty="0"/>
          </a:p>
        </p:txBody>
      </p:sp>
      <p:sp>
        <p:nvSpPr>
          <p:cNvPr id="6" name="Text 4"/>
          <p:cNvSpPr/>
          <p:nvPr/>
        </p:nvSpPr>
        <p:spPr>
          <a:xfrm>
            <a:off x="1143508" y="2727855"/>
            <a:ext cx="5692205" cy="2300817"/>
          </a:xfrm>
          <a:prstGeom prst="rect">
            <a:avLst/>
          </a:prstGeom>
          <a:noFill/>
          <a:ln/>
        </p:spPr>
        <p:txBody>
          <a:bodyPr wrap="square" lIns="0" tIns="0" rIns="0" bIns="0" rtlCol="0" anchor="t">
            <a:normAutofit/>
          </a:bodyPr>
          <a:lstStyle/>
          <a:p>
            <a:pPr algn="l" marL="177292" indent="-177292">
              <a:lnSpc>
                <a:spcPts val="2240"/>
              </a:lnSpc>
              <a:buSzPct val="100000"/>
              <a:buChar char="•"/>
            </a:pPr>
            <a:r>
              <a:rPr lang="en-US" sz="1600" dirty="0">
                <a:solidFill>
                  <a:srgbClr val="F7F4EC"/>
                </a:solidFill>
                <a:latin typeface="Arial" pitchFamily="34" charset="0"/>
                <a:ea typeface="Arial" pitchFamily="34" charset="-122"/>
                <a:cs typeface="Arial" pitchFamily="34" charset="-120"/>
              </a:rPr>
              <a:t>P. V. Isaac, a Syrian Christian of Travancore, died in 1960 without a will</a:t>
            </a:r>
            <a:endParaRPr lang="en-US" sz="1600" dirty="0"/>
          </a:p>
          <a:p>
            <a:pPr algn="l" marL="177292" indent="-177292">
              <a:lnSpc>
                <a:spcPts val="2240"/>
              </a:lnSpc>
              <a:buSzPct val="100000"/>
              <a:buChar char="•"/>
            </a:pPr>
            <a:r>
              <a:rPr lang="en-US" sz="1600" dirty="0">
                <a:solidFill>
                  <a:srgbClr val="F7F4EC"/>
                </a:solidFill>
                <a:latin typeface="Arial" pitchFamily="34" charset="0"/>
                <a:ea typeface="Arial" pitchFamily="34" charset="-122"/>
                <a:cs typeface="Arial" pitchFamily="34" charset="-120"/>
              </a:rPr>
              <a:t>The Travancore Act gave his daughter a fourth of a son’s share, or ₹5,000, whichever was less</a:t>
            </a:r>
            <a:endParaRPr lang="en-US" sz="1600" dirty="0"/>
          </a:p>
          <a:p>
            <a:pPr algn="l" marL="177292" indent="-177292">
              <a:lnSpc>
                <a:spcPts val="2240"/>
              </a:lnSpc>
              <a:buSzPct val="100000"/>
              <a:buChar char="•"/>
            </a:pPr>
            <a:r>
              <a:rPr lang="en-US" sz="1600" dirty="0">
                <a:solidFill>
                  <a:srgbClr val="F7F4EC"/>
                </a:solidFill>
                <a:latin typeface="Arial" pitchFamily="34" charset="0"/>
                <a:ea typeface="Arial" pitchFamily="34" charset="-122"/>
                <a:cs typeface="Arial" pitchFamily="34" charset="-120"/>
              </a:rPr>
              <a:t>Mary Roy sued her brother, lost in the lower court, and petitioned the Supreme Court in 1983</a:t>
            </a:r>
            <a:endParaRPr lang="en-US" sz="1600" dirty="0"/>
          </a:p>
          <a:p>
            <a:pPr algn="l" marL="177292" indent="-177292">
              <a:lnSpc>
                <a:spcPts val="2240"/>
              </a:lnSpc>
              <a:buSzPct val="100000"/>
              <a:buChar char="•"/>
            </a:pPr>
            <a:r>
              <a:rPr lang="en-US" sz="1600" dirty="0">
                <a:solidFill>
                  <a:srgbClr val="F7F4EC"/>
                </a:solidFill>
                <a:latin typeface="Arial" pitchFamily="34" charset="0"/>
                <a:ea typeface="Arial" pitchFamily="34" charset="-122"/>
                <a:cs typeface="Arial" pitchFamily="34" charset="-120"/>
              </a:rPr>
              <a:t>The question: did the Indian Succession Act replace the Travancore Act in 1951?</a:t>
            </a:r>
            <a:endParaRPr lang="en-US" sz="1600" dirty="0"/>
          </a:p>
        </p:txBody>
      </p:sp>
      <p:sp>
        <p:nvSpPr>
          <p:cNvPr id="7" name="Shape 5"/>
          <p:cNvSpPr/>
          <p:nvPr/>
        </p:nvSpPr>
        <p:spPr>
          <a:xfrm>
            <a:off x="7132285" y="2037026"/>
            <a:ext cx="4246915" cy="3220244"/>
          </a:xfrm>
          <a:prstGeom prst="roundRect">
            <a:avLst>
              <a:gd name="adj" fmla="val 3155"/>
            </a:avLst>
          </a:prstGeom>
          <a:solidFill>
            <a:srgbClr val="14213D"/>
          </a:solidFill>
          <a:ln/>
        </p:spPr>
      </p:sp>
      <p:sp>
        <p:nvSpPr>
          <p:cNvPr id="8" name="Text 6"/>
          <p:cNvSpPr/>
          <p:nvPr/>
        </p:nvSpPr>
        <p:spPr>
          <a:xfrm>
            <a:off x="7386285" y="2291026"/>
            <a:ext cx="3851083"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The cast</a:t>
            </a:r>
            <a:endParaRPr lang="en-US" sz="2200" dirty="0"/>
          </a:p>
        </p:txBody>
      </p:sp>
      <p:sp>
        <p:nvSpPr>
          <p:cNvPr id="9" name="Text 7"/>
          <p:cNvSpPr/>
          <p:nvPr/>
        </p:nvSpPr>
        <p:spPr>
          <a:xfrm>
            <a:off x="7386285" y="2727855"/>
            <a:ext cx="3851083"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973A"/>
                </a:solidFill>
                <a:latin typeface="Arial" pitchFamily="34" charset="0"/>
                <a:ea typeface="Arial" pitchFamily="34" charset="-122"/>
                <a:cs typeface="Arial" pitchFamily="34" charset="-120"/>
              </a:rPr>
              <a:t>Bench (seated)</a:t>
            </a:r>
            <a:endParaRPr lang="en-US" sz="1200" dirty="0"/>
          </a:p>
        </p:txBody>
      </p:sp>
      <p:sp>
        <p:nvSpPr>
          <p:cNvPr id="10" name="Text 8"/>
          <p:cNvSpPr/>
          <p:nvPr/>
        </p:nvSpPr>
        <p:spPr>
          <a:xfrm>
            <a:off x="7386285" y="3042797"/>
            <a:ext cx="3851083" cy="553685"/>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7F4EC"/>
                </a:solidFill>
                <a:latin typeface="Arial" pitchFamily="34" charset="0"/>
                <a:ea typeface="Arial" pitchFamily="34" charset="-122"/>
                <a:cs typeface="Arial" pitchFamily="34" charset="-120"/>
              </a:rPr>
              <a:t>Trevor Dcosta</a:t>
            </a:r>
            <a:endParaRPr lang="en-US" sz="1600" dirty="0"/>
          </a:p>
          <a:p>
            <a:pPr algn="l" indent="0" marL="0">
              <a:lnSpc>
                <a:spcPts val="2080"/>
              </a:lnSpc>
              <a:buNone/>
            </a:pPr>
            <a:r>
              <a:rPr lang="en-US" sz="1600" dirty="0">
                <a:solidFill>
                  <a:srgbClr val="F7F4EC"/>
                </a:solidFill>
                <a:latin typeface="Arial" pitchFamily="34" charset="0"/>
                <a:ea typeface="Arial" pitchFamily="34" charset="-122"/>
                <a:cs typeface="Arial" pitchFamily="34" charset="-120"/>
              </a:rPr>
              <a:t>Deepesh Gupta</a:t>
            </a:r>
            <a:endParaRPr lang="en-US" sz="1600" dirty="0"/>
          </a:p>
        </p:txBody>
      </p:sp>
      <p:sp>
        <p:nvSpPr>
          <p:cNvPr id="11" name="Text 9"/>
          <p:cNvSpPr/>
          <p:nvPr/>
        </p:nvSpPr>
        <p:spPr>
          <a:xfrm>
            <a:off x="7386285" y="3672681"/>
            <a:ext cx="3851083"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973A"/>
                </a:solidFill>
                <a:latin typeface="Arial" pitchFamily="34" charset="0"/>
                <a:ea typeface="Arial" pitchFamily="34" charset="-122"/>
                <a:cs typeface="Arial" pitchFamily="34" charset="-120"/>
              </a:rPr>
              <a:t>Counsel for Mary Roy</a:t>
            </a:r>
            <a:endParaRPr lang="en-US" sz="1200" dirty="0"/>
          </a:p>
        </p:txBody>
      </p:sp>
      <p:sp>
        <p:nvSpPr>
          <p:cNvPr id="12" name="Text 10"/>
          <p:cNvSpPr/>
          <p:nvPr/>
        </p:nvSpPr>
        <p:spPr>
          <a:xfrm>
            <a:off x="7386285" y="3987623"/>
            <a:ext cx="3851083"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4EC"/>
                </a:solidFill>
                <a:latin typeface="Arial" pitchFamily="34" charset="0"/>
                <a:ea typeface="Arial" pitchFamily="34" charset="-122"/>
                <a:cs typeface="Arial" pitchFamily="34" charset="-120"/>
              </a:rPr>
              <a:t>Sahil Nathwani</a:t>
            </a:r>
            <a:endParaRPr lang="en-US" sz="1600" dirty="0"/>
          </a:p>
        </p:txBody>
      </p:sp>
      <p:sp>
        <p:nvSpPr>
          <p:cNvPr id="13" name="Text 11"/>
          <p:cNvSpPr/>
          <p:nvPr/>
        </p:nvSpPr>
        <p:spPr>
          <a:xfrm>
            <a:off x="7386285" y="4373652"/>
            <a:ext cx="3851083"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973A"/>
                </a:solidFill>
                <a:latin typeface="Arial" pitchFamily="34" charset="0"/>
                <a:ea typeface="Arial" pitchFamily="34" charset="-122"/>
                <a:cs typeface="Arial" pitchFamily="34" charset="-120"/>
              </a:rPr>
              <a:t>Counsel for the State of Kerala</a:t>
            </a:r>
            <a:endParaRPr lang="en-US" sz="1200" dirty="0"/>
          </a:p>
        </p:txBody>
      </p:sp>
      <p:sp>
        <p:nvSpPr>
          <p:cNvPr id="14" name="Text 12"/>
          <p:cNvSpPr/>
          <p:nvPr/>
        </p:nvSpPr>
        <p:spPr>
          <a:xfrm>
            <a:off x="7386285" y="4688594"/>
            <a:ext cx="3851083"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4EC"/>
                </a:solidFill>
                <a:latin typeface="Arial" pitchFamily="34" charset="0"/>
                <a:ea typeface="Arial" pitchFamily="34" charset="-122"/>
                <a:cs typeface="Arial" pitchFamily="34" charset="-120"/>
              </a:rPr>
              <a:t>Tejas Patil</a:t>
            </a:r>
            <a:endParaRPr lang="en-US" sz="1600" dirty="0"/>
          </a:p>
        </p:txBody>
      </p:sp>
      <p:sp>
        <p:nvSpPr>
          <p:cNvPr id="15" name="Text 13"/>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Mock hearing · about 7 minutes · scripted from the Supreme Court’s published ruling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973A"/>
                </a:solidFill>
                <a:latin typeface="Arial" pitchFamily="34" charset="0"/>
                <a:ea typeface="Arial" pitchFamily="34" charset="-122"/>
                <a:cs typeface="Arial" pitchFamily="34" charset="-120"/>
              </a:rPr>
              <a:t>ENACTMENT · THE ARGUMENTS</a:t>
            </a:r>
            <a:endParaRPr lang="en-US" sz="1200" dirty="0"/>
          </a:p>
        </p:txBody>
      </p:sp>
      <p:sp>
        <p:nvSpPr>
          <p:cNvPr id="3" name="Text 1"/>
          <p:cNvSpPr/>
          <p:nvPr>
            <p:ph type="title"/>
          </p:nvPr>
        </p:nvSpPr>
        <p:spPr>
          <a:xfrm>
            <a:off x="812800" y="12293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7F4EC"/>
                </a:solidFill>
                <a:latin typeface="Georgia" pitchFamily="18" charset="0"/>
                <a:ea typeface="Georgia" pitchFamily="18" charset="-122"/>
                <a:cs typeface="Georgia" pitchFamily="18" charset="-120"/>
              </a:rPr>
              <a:t>Two sides before the bench</a:t>
            </a:r>
            <a:endParaRPr lang="en-US" sz="3600" dirty="0"/>
          </a:p>
        </p:txBody>
      </p:sp>
      <p:sp>
        <p:nvSpPr>
          <p:cNvPr id="4" name="Text 2"/>
          <p:cNvSpPr/>
          <p:nvPr/>
        </p:nvSpPr>
        <p:spPr>
          <a:xfrm>
            <a:off x="812800" y="1935426"/>
            <a:ext cx="10883392"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DCE2F0"/>
                </a:solidFill>
                <a:latin typeface="Arial" pitchFamily="34" charset="0"/>
                <a:ea typeface="Arial" pitchFamily="34" charset="-122"/>
                <a:cs typeface="Arial" pitchFamily="34" charset="-120"/>
              </a:rPr>
              <a:t>The issue:</a:t>
            </a:r>
            <a:r>
              <a:rPr lang="en-US" sz="1600" dirty="0">
                <a:solidFill>
                  <a:srgbClr val="DCE2F0"/>
                </a:solidFill>
                <a:latin typeface="Arial" pitchFamily="34" charset="0"/>
                <a:ea typeface="Arial" pitchFamily="34" charset="-122"/>
                <a:cs typeface="Arial" pitchFamily="34" charset="-120"/>
              </a:rPr>
              <a:t> did the Indian Succession Act, extended in 1951, repeal the Travancore Christian Succession Act?</a:t>
            </a:r>
            <a:endParaRPr lang="en-US" sz="1600" dirty="0"/>
          </a:p>
        </p:txBody>
      </p:sp>
      <p:sp>
        <p:nvSpPr>
          <p:cNvPr id="5" name="Shape 3"/>
          <p:cNvSpPr/>
          <p:nvPr/>
        </p:nvSpPr>
        <p:spPr>
          <a:xfrm>
            <a:off x="812800" y="2423055"/>
            <a:ext cx="5181600" cy="2316251"/>
          </a:xfrm>
          <a:prstGeom prst="roundRect">
            <a:avLst>
              <a:gd name="adj" fmla="val 4386"/>
            </a:avLst>
          </a:prstGeom>
          <a:solidFill>
            <a:srgbClr val="1F3158"/>
          </a:solidFill>
          <a:ln/>
        </p:spPr>
      </p:sp>
      <p:sp>
        <p:nvSpPr>
          <p:cNvPr id="6" name="Text 4"/>
          <p:cNvSpPr/>
          <p:nvPr/>
        </p:nvSpPr>
        <p:spPr>
          <a:xfrm>
            <a:off x="1066800" y="2677055"/>
            <a:ext cx="481380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For Mary Roy</a:t>
            </a:r>
            <a:endParaRPr lang="en-US" sz="2200" dirty="0"/>
          </a:p>
        </p:txBody>
      </p:sp>
      <p:sp>
        <p:nvSpPr>
          <p:cNvPr id="7" name="Text 5"/>
          <p:cNvSpPr/>
          <p:nvPr/>
        </p:nvSpPr>
        <p:spPr>
          <a:xfrm>
            <a:off x="1143508" y="3113881"/>
            <a:ext cx="4729480" cy="1396824"/>
          </a:xfrm>
          <a:prstGeom prst="rect">
            <a:avLst/>
          </a:prstGeom>
          <a:noFill/>
          <a:ln/>
        </p:spPr>
        <p:txBody>
          <a:bodyPr wrap="square" lIns="0" tIns="0" rIns="0" bIns="0" rtlCol="0" anchor="t">
            <a:normAutofit/>
          </a:bodyPr>
          <a:lstStyle/>
          <a:p>
            <a:pPr algn="l" marL="177292" indent="-177292">
              <a:lnSpc>
                <a:spcPts val="2160"/>
              </a:lnSpc>
              <a:buSzPct val="100000"/>
              <a:buChar char="•"/>
            </a:pPr>
            <a:r>
              <a:rPr lang="en-US" sz="1600" dirty="0">
                <a:solidFill>
                  <a:srgbClr val="DCE2F0"/>
                </a:solidFill>
                <a:latin typeface="Arial" pitchFamily="34" charset="0"/>
                <a:ea typeface="Arial" pitchFamily="34" charset="-122"/>
                <a:cs typeface="Arial" pitchFamily="34" charset="-120"/>
              </a:rPr>
              <a:t>The ISA was extended to Travancore-Cochin in 1951</a:t>
            </a:r>
            <a:endParaRPr lang="en-US" sz="1600" dirty="0"/>
          </a:p>
          <a:p>
            <a:pPr algn="l" marL="177292" indent="-177292">
              <a:lnSpc>
                <a:spcPts val="2160"/>
              </a:lnSpc>
              <a:buSzPct val="100000"/>
              <a:buChar char="•"/>
            </a:pPr>
            <a:r>
              <a:rPr lang="en-US" sz="1600" dirty="0">
                <a:solidFill>
                  <a:srgbClr val="DCE2F0"/>
                </a:solidFill>
                <a:latin typeface="Arial" pitchFamily="34" charset="0"/>
                <a:ea typeface="Arial" pitchFamily="34" charset="-122"/>
                <a:cs typeface="Arial" pitchFamily="34" charset="-120"/>
              </a:rPr>
              <a:t>That extension repealed the matching State law</a:t>
            </a:r>
            <a:endParaRPr lang="en-US" sz="1600" dirty="0"/>
          </a:p>
          <a:p>
            <a:pPr algn="l" marL="177292" indent="-177292">
              <a:lnSpc>
                <a:spcPts val="2160"/>
              </a:lnSpc>
              <a:buSzPct val="100000"/>
              <a:buChar char="•"/>
            </a:pPr>
            <a:r>
              <a:rPr lang="en-US" sz="1600" dirty="0">
                <a:solidFill>
                  <a:srgbClr val="DCE2F0"/>
                </a:solidFill>
                <a:latin typeface="Arial" pitchFamily="34" charset="0"/>
                <a:ea typeface="Arial" pitchFamily="34" charset="-122"/>
                <a:cs typeface="Arial" pitchFamily="34" charset="-120"/>
              </a:rPr>
              <a:t>So daughters share equally with sons</a:t>
            </a:r>
            <a:endParaRPr lang="en-US" sz="1600" dirty="0"/>
          </a:p>
          <a:p>
            <a:pPr algn="l" marL="177292" indent="-177292">
              <a:lnSpc>
                <a:spcPts val="2160"/>
              </a:lnSpc>
              <a:buSzPct val="100000"/>
              <a:buChar char="•"/>
            </a:pPr>
            <a:r>
              <a:rPr lang="en-US" sz="1600" dirty="0">
                <a:solidFill>
                  <a:srgbClr val="DCE2F0"/>
                </a:solidFill>
                <a:latin typeface="Arial" pitchFamily="34" charset="0"/>
                <a:ea typeface="Arial" pitchFamily="34" charset="-122"/>
                <a:cs typeface="Arial" pitchFamily="34" charset="-120"/>
              </a:rPr>
              <a:t>If the old Act survives, its daughters’ share breaches Article 14</a:t>
            </a:r>
            <a:endParaRPr lang="en-US" sz="1600" dirty="0"/>
          </a:p>
        </p:txBody>
      </p:sp>
      <p:sp>
        <p:nvSpPr>
          <p:cNvPr id="8" name="Shape 6"/>
          <p:cNvSpPr/>
          <p:nvPr/>
        </p:nvSpPr>
        <p:spPr>
          <a:xfrm>
            <a:off x="6197600" y="2423055"/>
            <a:ext cx="5181600" cy="2316251"/>
          </a:xfrm>
          <a:prstGeom prst="roundRect">
            <a:avLst>
              <a:gd name="adj" fmla="val 4386"/>
            </a:avLst>
          </a:prstGeom>
          <a:solidFill>
            <a:srgbClr val="1F3158"/>
          </a:solidFill>
          <a:ln/>
        </p:spPr>
      </p:sp>
      <p:sp>
        <p:nvSpPr>
          <p:cNvPr id="9" name="Text 7"/>
          <p:cNvSpPr/>
          <p:nvPr/>
        </p:nvSpPr>
        <p:spPr>
          <a:xfrm>
            <a:off x="6451600" y="2677055"/>
            <a:ext cx="481380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For the State of Kerala</a:t>
            </a:r>
            <a:endParaRPr lang="en-US" sz="2200" dirty="0"/>
          </a:p>
        </p:txBody>
      </p:sp>
      <p:sp>
        <p:nvSpPr>
          <p:cNvPr id="10" name="Text 8"/>
          <p:cNvSpPr/>
          <p:nvPr/>
        </p:nvSpPr>
        <p:spPr>
          <a:xfrm>
            <a:off x="6528308" y="3113881"/>
            <a:ext cx="4729480" cy="1396824"/>
          </a:xfrm>
          <a:prstGeom prst="rect">
            <a:avLst/>
          </a:prstGeom>
          <a:noFill/>
          <a:ln/>
        </p:spPr>
        <p:txBody>
          <a:bodyPr wrap="square" lIns="0" tIns="0" rIns="0" bIns="0" rtlCol="0" anchor="t">
            <a:normAutofit/>
          </a:bodyPr>
          <a:lstStyle/>
          <a:p>
            <a:pPr algn="l" marL="177292" indent="-177292">
              <a:lnSpc>
                <a:spcPts val="2160"/>
              </a:lnSpc>
              <a:buSzPct val="100000"/>
              <a:buChar char="•"/>
            </a:pPr>
            <a:r>
              <a:rPr lang="en-US" sz="1600" dirty="0">
                <a:solidFill>
                  <a:srgbClr val="DCE2F0"/>
                </a:solidFill>
                <a:latin typeface="Arial" pitchFamily="34" charset="0"/>
                <a:ea typeface="Arial" pitchFamily="34" charset="-122"/>
                <a:cs typeface="Arial" pitchFamily="34" charset="-120"/>
              </a:rPr>
              <a:t>The Travancore Act is a special law for Syrian Christians</a:t>
            </a:r>
            <a:endParaRPr lang="en-US" sz="1600" dirty="0"/>
          </a:p>
          <a:p>
            <a:pPr algn="l" marL="177292" indent="-177292">
              <a:lnSpc>
                <a:spcPts val="2160"/>
              </a:lnSpc>
              <a:buSzPct val="100000"/>
              <a:buChar char="•"/>
            </a:pPr>
            <a:r>
              <a:rPr lang="en-US" sz="1600" dirty="0">
                <a:solidFill>
                  <a:srgbClr val="DCE2F0"/>
                </a:solidFill>
                <a:latin typeface="Arial" pitchFamily="34" charset="0"/>
                <a:ea typeface="Arial" pitchFamily="34" charset="-122"/>
                <a:cs typeface="Arial" pitchFamily="34" charset="-120"/>
              </a:rPr>
              <a:t>A general Act does not displace it without clear words</a:t>
            </a:r>
            <a:endParaRPr lang="en-US" sz="1600" dirty="0"/>
          </a:p>
          <a:p>
            <a:pPr algn="l" marL="177292" indent="-177292">
              <a:lnSpc>
                <a:spcPts val="2160"/>
              </a:lnSpc>
              <a:buSzPct val="100000"/>
              <a:buChar char="•"/>
            </a:pPr>
            <a:r>
              <a:rPr lang="en-US" sz="1600" dirty="0">
                <a:solidFill>
                  <a:srgbClr val="DCE2F0"/>
                </a:solidFill>
                <a:latin typeface="Arial" pitchFamily="34" charset="0"/>
                <a:ea typeface="Arial" pitchFamily="34" charset="-122"/>
                <a:cs typeface="Arial" pitchFamily="34" charset="-120"/>
              </a:rPr>
              <a:t>The 1951 extension left community law in place</a:t>
            </a:r>
            <a:endParaRPr lang="en-US" sz="1600" dirty="0"/>
          </a:p>
          <a:p>
            <a:pPr algn="l" marL="177292" indent="-177292">
              <a:lnSpc>
                <a:spcPts val="2160"/>
              </a:lnSpc>
              <a:buSzPct val="100000"/>
              <a:buChar char="•"/>
            </a:pPr>
            <a:r>
              <a:rPr lang="en-US" sz="1600" dirty="0">
                <a:solidFill>
                  <a:srgbClr val="DCE2F0"/>
                </a:solidFill>
                <a:latin typeface="Arial" pitchFamily="34" charset="0"/>
                <a:ea typeface="Arial" pitchFamily="34" charset="-122"/>
                <a:cs typeface="Arial" pitchFamily="34" charset="-120"/>
              </a:rPr>
              <a:t>Changing inheritance shares is for the legislature</a:t>
            </a:r>
            <a:endParaRPr lang="en-US" sz="1600" dirty="0"/>
          </a:p>
        </p:txBody>
      </p:sp>
      <p:sp>
        <p:nvSpPr>
          <p:cNvPr id="11" name="Text 9"/>
          <p:cNvSpPr/>
          <p:nvPr/>
        </p:nvSpPr>
        <p:spPr>
          <a:xfrm>
            <a:off x="812800" y="62382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0D4"/>
                </a:solidFill>
                <a:latin typeface="Arial" pitchFamily="34" charset="0"/>
                <a:ea typeface="Arial" pitchFamily="34" charset="-122"/>
                <a:cs typeface="Arial" pitchFamily="34" charset="-120"/>
              </a:rPr>
              <a:t>Enactment · Mary Roy v. State of Kerala (SC, 1986)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2D3B"/>
                </a:solidFill>
                <a:latin typeface="Arial" pitchFamily="34" charset="0"/>
                <a:ea typeface="Arial" pitchFamily="34" charset="-122"/>
                <a:cs typeface="Arial" pitchFamily="34" charset="-120"/>
              </a:rPr>
              <a:t>ENACTMENT · THE VERDICT</a:t>
            </a:r>
            <a:endParaRPr lang="en-US" sz="1200" dirty="0"/>
          </a:p>
        </p:txBody>
      </p:sp>
      <p:sp>
        <p:nvSpPr>
          <p:cNvPr id="3" name="Text 1"/>
          <p:cNvSpPr/>
          <p:nvPr>
            <p:ph type="title"/>
          </p:nvPr>
        </p:nvSpPr>
        <p:spPr>
          <a:xfrm>
            <a:off x="812800" y="1280142"/>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13D"/>
                </a:solidFill>
                <a:latin typeface="Georgia" pitchFamily="18" charset="0"/>
                <a:ea typeface="Georgia" pitchFamily="18" charset="-122"/>
                <a:cs typeface="Georgia" pitchFamily="18" charset="-120"/>
              </a:rPr>
              <a:t>Mary Roy wins: the old Act was repealed</a:t>
            </a:r>
            <a:endParaRPr lang="en-US" sz="3600" dirty="0"/>
          </a:p>
        </p:txBody>
      </p:sp>
      <p:sp>
        <p:nvSpPr>
          <p:cNvPr id="4" name="Shape 2"/>
          <p:cNvSpPr/>
          <p:nvPr/>
        </p:nvSpPr>
        <p:spPr>
          <a:xfrm>
            <a:off x="815975" y="2040201"/>
            <a:ext cx="3384021" cy="2371901"/>
          </a:xfrm>
          <a:prstGeom prst="roundRect">
            <a:avLst>
              <a:gd name="adj" fmla="val 4150"/>
            </a:avLst>
          </a:prstGeom>
          <a:solidFill>
            <a:srgbClr val="FFFDF8"/>
          </a:solidFill>
          <a:ln w="6350">
            <a:solidFill>
              <a:srgbClr val="DDD6C4"/>
            </a:solidFill>
            <a:prstDash val="solid"/>
          </a:ln>
        </p:spPr>
      </p:sp>
      <p:sp>
        <p:nvSpPr>
          <p:cNvPr id="5" name="Text 3"/>
          <p:cNvSpPr/>
          <p:nvPr/>
        </p:nvSpPr>
        <p:spPr>
          <a:xfrm>
            <a:off x="1072444" y="2296672"/>
            <a:ext cx="2957214"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A2D3B"/>
                </a:solidFill>
                <a:latin typeface="Georgia" pitchFamily="18" charset="0"/>
                <a:ea typeface="Georgia" pitchFamily="18" charset="-122"/>
                <a:cs typeface="Georgia" pitchFamily="18" charset="-120"/>
              </a:rPr>
              <a:t>The holding</a:t>
            </a:r>
            <a:endParaRPr lang="en-US" sz="2200" dirty="0"/>
          </a:p>
        </p:txBody>
      </p:sp>
      <p:sp>
        <p:nvSpPr>
          <p:cNvPr id="6" name="Text 4"/>
          <p:cNvSpPr/>
          <p:nvPr/>
        </p:nvSpPr>
        <p:spPr>
          <a:xfrm>
            <a:off x="1072444" y="2733498"/>
            <a:ext cx="2957214" cy="144753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3652"/>
                </a:solidFill>
                <a:latin typeface="Arial" pitchFamily="34" charset="0"/>
                <a:ea typeface="Arial" pitchFamily="34" charset="-122"/>
                <a:cs typeface="Arial" pitchFamily="34" charset="-120"/>
              </a:rPr>
              <a:t>From 1951 the Indian Succession Act governed. The Travancore Act stood repealed.</a:t>
            </a:r>
            <a:endParaRPr lang="en-US" sz="1600" dirty="0"/>
          </a:p>
        </p:txBody>
      </p:sp>
      <p:sp>
        <p:nvSpPr>
          <p:cNvPr id="7" name="Shape 5"/>
          <p:cNvSpPr/>
          <p:nvPr/>
        </p:nvSpPr>
        <p:spPr>
          <a:xfrm>
            <a:off x="4409546" y="2040201"/>
            <a:ext cx="3384109" cy="2371901"/>
          </a:xfrm>
          <a:prstGeom prst="roundRect">
            <a:avLst>
              <a:gd name="adj" fmla="val 4150"/>
            </a:avLst>
          </a:prstGeom>
          <a:solidFill>
            <a:srgbClr val="FFFDF8"/>
          </a:solidFill>
          <a:ln w="6350">
            <a:solidFill>
              <a:srgbClr val="DDD6C4"/>
            </a:solidFill>
            <a:prstDash val="solid"/>
          </a:ln>
        </p:spPr>
      </p:sp>
      <p:sp>
        <p:nvSpPr>
          <p:cNvPr id="8" name="Text 6"/>
          <p:cNvSpPr/>
          <p:nvPr/>
        </p:nvSpPr>
        <p:spPr>
          <a:xfrm>
            <a:off x="4666015" y="2296672"/>
            <a:ext cx="295730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A2D3B"/>
                </a:solidFill>
                <a:latin typeface="Georgia" pitchFamily="18" charset="0"/>
                <a:ea typeface="Georgia" pitchFamily="18" charset="-122"/>
                <a:cs typeface="Georgia" pitchFamily="18" charset="-120"/>
              </a:rPr>
              <a:t>What it left open</a:t>
            </a:r>
            <a:endParaRPr lang="en-US" sz="2200" dirty="0"/>
          </a:p>
        </p:txBody>
      </p:sp>
      <p:sp>
        <p:nvSpPr>
          <p:cNvPr id="9" name="Text 7"/>
          <p:cNvSpPr/>
          <p:nvPr/>
        </p:nvSpPr>
        <p:spPr>
          <a:xfrm>
            <a:off x="4666015" y="2733498"/>
            <a:ext cx="2957305"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3652"/>
                </a:solidFill>
                <a:latin typeface="Arial" pitchFamily="34" charset="0"/>
                <a:ea typeface="Arial" pitchFamily="34" charset="-122"/>
                <a:cs typeface="Arial" pitchFamily="34" charset="-120"/>
              </a:rPr>
              <a:t>The Court did not decide whether the old Act was unconstitutional, so Article 14 was not reached.</a:t>
            </a:r>
            <a:endParaRPr lang="en-US" sz="1600" dirty="0"/>
          </a:p>
        </p:txBody>
      </p:sp>
      <p:sp>
        <p:nvSpPr>
          <p:cNvPr id="10" name="Shape 8"/>
          <p:cNvSpPr/>
          <p:nvPr/>
        </p:nvSpPr>
        <p:spPr>
          <a:xfrm>
            <a:off x="8000030" y="2037026"/>
            <a:ext cx="3379170" cy="2378251"/>
          </a:xfrm>
          <a:prstGeom prst="roundRect">
            <a:avLst>
              <a:gd name="adj" fmla="val 4272"/>
            </a:avLst>
          </a:prstGeom>
          <a:solidFill>
            <a:srgbClr val="14213D"/>
          </a:solidFill>
          <a:ln/>
        </p:spPr>
      </p:sp>
      <p:sp>
        <p:nvSpPr>
          <p:cNvPr id="11" name="Text 9"/>
          <p:cNvSpPr/>
          <p:nvPr/>
        </p:nvSpPr>
        <p:spPr>
          <a:xfrm>
            <a:off x="8254030" y="2291026"/>
            <a:ext cx="295730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C9973A"/>
                </a:solidFill>
                <a:latin typeface="Georgia" pitchFamily="18" charset="0"/>
                <a:ea typeface="Georgia" pitchFamily="18" charset="-122"/>
                <a:cs typeface="Georgia" pitchFamily="18" charset="-120"/>
              </a:rPr>
              <a:t>The result</a:t>
            </a:r>
            <a:endParaRPr lang="en-US" sz="2200" dirty="0"/>
          </a:p>
        </p:txBody>
      </p:sp>
      <p:sp>
        <p:nvSpPr>
          <p:cNvPr id="12" name="Text 10"/>
          <p:cNvSpPr/>
          <p:nvPr/>
        </p:nvSpPr>
        <p:spPr>
          <a:xfrm>
            <a:off x="8254030" y="2727855"/>
            <a:ext cx="2957305"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4EC"/>
                </a:solidFill>
                <a:latin typeface="Arial" pitchFamily="34" charset="0"/>
                <a:ea typeface="Arial" pitchFamily="34" charset="-122"/>
                <a:cs typeface="Arial" pitchFamily="34" charset="-120"/>
              </a:rPr>
              <a:t>Syrian Christian daughters in the former Travancore area inherit equally with sons.</a:t>
            </a:r>
            <a:endParaRPr lang="en-US" sz="1600" dirty="0"/>
          </a:p>
        </p:txBody>
      </p:sp>
      <p:sp>
        <p:nvSpPr>
          <p:cNvPr id="13" name="Text 11"/>
          <p:cNvSpPr/>
          <p:nvPr/>
        </p:nvSpPr>
        <p:spPr>
          <a:xfrm>
            <a:off x="812800" y="6238261"/>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5"/>
                </a:solidFill>
                <a:latin typeface="Arial" pitchFamily="34" charset="0"/>
                <a:ea typeface="Arial" pitchFamily="34" charset="-122"/>
                <a:cs typeface="Arial" pitchFamily="34" charset="-120"/>
              </a:rPr>
              <a:t>Enactment · Mary Roy v. State of Kerala (SC, 24 February 1986)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2D3B"/>
                </a:solidFill>
                <a:latin typeface="Arial" pitchFamily="34" charset="0"/>
                <a:ea typeface="Arial" pitchFamily="34" charset="-122"/>
                <a:cs typeface="Arial" pitchFamily="34" charset="-120"/>
              </a:rPr>
              <a:t>PUTTING IT TOGETHER</a:t>
            </a:r>
            <a:endParaRPr lang="en-US" sz="1200" dirty="0"/>
          </a:p>
        </p:txBody>
      </p:sp>
      <p:sp>
        <p:nvSpPr>
          <p:cNvPr id="3" name="Text 1"/>
          <p:cNvSpPr/>
          <p:nvPr>
            <p:ph type="title"/>
          </p:nvPr>
        </p:nvSpPr>
        <p:spPr>
          <a:xfrm>
            <a:off x="812800" y="1280145"/>
            <a:ext cx="10883392" cy="528285"/>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13D"/>
                </a:solidFill>
                <a:latin typeface="Georgia" pitchFamily="18" charset="0"/>
                <a:ea typeface="Georgia" pitchFamily="18" charset="-122"/>
                <a:cs typeface="Georgia" pitchFamily="18" charset="-120"/>
              </a:rPr>
              <a:t>A four-point estate planning checklist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2048318"/>
          <a:ext cx="10555111" cy="2189427"/>
        </p:xfrm>
        <a:graphic>
          <a:graphicData uri="http://schemas.openxmlformats.org/drawingml/2006/table">
            <a:tbl>
              <a:tblPr/>
              <a:tblGrid>
                <a:gridCol w="6544169"/>
                <a:gridCol w="4010942"/>
              </a:tblGrid>
              <a:tr h="437885">
                <a:tc>
                  <a:txBody>
                    <a:bodyPr/>
                    <a:lstStyle/>
                    <a:p>
                      <a:pPr indent="0" marL="0">
                        <a:lnSpc>
                          <a:spcPts val="2240"/>
                        </a:lnSpc>
                        <a:buNone/>
                      </a:pPr>
                      <a:r>
                        <a:rPr lang="en-US" sz="1600" b="1" dirty="0">
                          <a:solidFill>
                            <a:srgbClr val="14213D"/>
                          </a:solidFill>
                          <a:latin typeface="Arial" pitchFamily="34" charset="0"/>
                          <a:ea typeface="Arial" pitchFamily="34" charset="-122"/>
                          <a:cs typeface="Arial" pitchFamily="34" charset="-120"/>
                        </a:rPr>
                        <a:t>Planning step</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B7B5AF"/>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7B5AF"/>
                      </a:solidFill>
                      <a:prstDash val="solid"/>
                      <a:round/>
                      <a:headEnd type="none" w="med" len="med"/>
                      <a:tailEnd type="none" w="med" len="med"/>
                    </a:lnB>
                    <a:solidFill>
                      <a:srgbClr val="E5E2DB"/>
                    </a:solidFill>
                  </a:tcPr>
                </a:tc>
                <a:tc>
                  <a:txBody>
                    <a:bodyPr/>
                    <a:lstStyle/>
                    <a:p>
                      <a:pPr indent="0" marL="0">
                        <a:lnSpc>
                          <a:spcPts val="2240"/>
                        </a:lnSpc>
                        <a:buNone/>
                      </a:pPr>
                      <a:r>
                        <a:rPr lang="en-US" sz="1600" b="1" dirty="0">
                          <a:solidFill>
                            <a:srgbClr val="14213D"/>
                          </a:solidFill>
                          <a:latin typeface="Arial" pitchFamily="34" charset="0"/>
                          <a:ea typeface="Arial" pitchFamily="34" charset="-122"/>
                          <a:cs typeface="Arial" pitchFamily="34" charset="-120"/>
                        </a:rPr>
                        <a:t>Case behind it</a:t>
                      </a:r>
                      <a:endParaRPr lang="en-US" sz="1600" dirty="0">
                        <a:latin typeface="Arial" charset="0"/>
                        <a:ea typeface="Arial" charset="0"/>
                        <a:cs typeface="Arial" charset="0"/>
                      </a:endParaRPr>
                    </a:p>
                  </a:txBody>
                  <a:tcPr marL="71120" marR="71120" marT="71120" marB="71120" anchor="t">
                    <a:lnL w="12700" cap="flat" cmpd="sng" algn="ctr">
                      <a:solidFill>
                        <a:srgbClr val="B7B5AF"/>
                      </a:solidFill>
                      <a:prstDash val="solid"/>
                      <a:round/>
                      <a:headEnd type="none" w="med" len="med"/>
                      <a:tailEnd type="none" w="med" len="med"/>
                    </a:lnL>
                    <a:lnR w="12700" cap="flat" cmpd="sng" algn="ctr">
                      <a:solidFill>
                        <a:srgbClr val="B7B5AF"/>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B7B5AF"/>
                      </a:solidFill>
                      <a:prstDash val="solid"/>
                      <a:round/>
                      <a:headEnd type="none" w="med" len="med"/>
                      <a:tailEnd type="none" w="med" len="med"/>
                    </a:lnB>
                    <a:solidFill>
                      <a:srgbClr val="E5E2DB"/>
                    </a:solidFill>
                  </a:tcPr>
                </a:tc>
              </a:tr>
              <a:tr h="437885">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Decide to make a will: with none, the default rules decide</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7B5AF"/>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Mary Roy (1986)</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B7B5AF"/>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r h="437885">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Confirm which succession law governs</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Mary Roy (1986)</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r h="437885">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Keep one clear, current will and name executors</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Birla–Lodha (2004 onward)</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r h="437885">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Explain exclusions and plan the probate route early</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Arial" pitchFamily="34" charset="0"/>
                          <a:ea typeface="Arial" pitchFamily="34" charset="-122"/>
                          <a:cs typeface="Arial" pitchFamily="34" charset="-120"/>
                        </a:rPr>
                        <a:t>Birla–Lodha (2004 onward)</a:t>
                      </a:r>
                      <a:endParaRPr lang="en-US" sz="1600" dirty="0">
                        <a:latin typeface="Arial" charset="0"/>
                        <a:ea typeface="Arial" charset="0"/>
                        <a:cs typeface="Arial" charset="0"/>
                      </a:endParaRPr>
                    </a:p>
                  </a:txBody>
                  <a:tcPr marL="71120" marR="71120" marT="71120" marB="71120" anchor="t">
                    <a:lnL w="12700" cap="flat" cmpd="sng" algn="ctr">
                      <a:solidFill>
                        <a:srgbClr val="C5C3BC"/>
                      </a:solidFill>
                      <a:prstDash val="solid"/>
                      <a:round/>
                      <a:headEnd type="none" w="med" len="med"/>
                      <a:tailEnd type="none" w="med" len="med"/>
                    </a:lnL>
                    <a:lnR w="12700" cap="flat" cmpd="sng" algn="ctr">
                      <a:solidFill>
                        <a:srgbClr val="C5C3BC"/>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C5C3BC"/>
                      </a:solidFill>
                      <a:prstDash val="solid"/>
                      <a:round/>
                      <a:headEnd type="none" w="med" len="med"/>
                      <a:tailEnd type="none" w="med" len="med"/>
                    </a:lnB>
                  </a:tcPr>
                </a:tc>
              </a:tr>
            </a:tbl>
          </a:graphicData>
        </a:graphic>
      </p:graphicFrame>
      <p:sp>
        <p:nvSpPr>
          <p:cNvPr id="5" name="Text 2"/>
          <p:cNvSpPr/>
          <p:nvPr/>
        </p:nvSpPr>
        <p:spPr>
          <a:xfrm>
            <a:off x="812800" y="4491744"/>
            <a:ext cx="10566400" cy="640027"/>
          </a:xfrm>
          <a:prstGeom prst="roundRect">
            <a:avLst>
              <a:gd name="adj" fmla="val 15874"/>
            </a:avLst>
          </a:prstGeom>
          <a:solidFill>
            <a:srgbClr val="14213D"/>
          </a:solidFill>
          <a:ln/>
        </p:spPr>
        <p:txBody>
          <a:bodyPr wrap="square" lIns="224242" tIns="148042" rIns="0" bIns="122642" rtlCol="0" anchor="t">
            <a:normAutofit/>
          </a:bodyPr>
          <a:lstStyle/>
          <a:p>
            <a:pPr algn="l" indent="0" marL="0">
              <a:lnSpc>
                <a:spcPts val="2240"/>
              </a:lnSpc>
              <a:buNone/>
            </a:pPr>
            <a:r>
              <a:rPr lang="en-US" sz="1600" dirty="0">
                <a:solidFill>
                  <a:srgbClr val="F7F4EC"/>
                </a:solidFill>
                <a:latin typeface="Arial" pitchFamily="34" charset="0"/>
                <a:ea typeface="Arial" pitchFamily="34" charset="-122"/>
                <a:cs typeface="Arial" pitchFamily="34" charset="-120"/>
              </a:rPr>
              <a:t>No will: the law decides. A contested will: the courts decide, often for years.</a:t>
            </a:r>
            <a:endParaRPr lang="en-US" sz="1600" dirty="0"/>
          </a:p>
        </p:txBody>
      </p:sp>
      <p:sp>
        <p:nvSpPr>
          <p:cNvPr id="6" name="Text 3"/>
          <p:cNvSpPr/>
          <p:nvPr/>
        </p:nvSpPr>
        <p:spPr>
          <a:xfrm>
            <a:off x="812800" y="6238261"/>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5"/>
                </a:solidFill>
                <a:latin typeface="Arial" pitchFamily="34" charset="0"/>
                <a:ea typeface="Arial" pitchFamily="34" charset="-122"/>
                <a:cs typeface="Arial" pitchFamily="34" charset="-120"/>
              </a:rPr>
              <a:t>Class presentation · not legal advice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C9973A"/>
        </a:solidFill>
      </p:bgPr>
    </p:bg>
    <p:spTree>
      <p:nvGrpSpPr>
        <p:cNvPr id="1" name=""/>
        <p:cNvGrpSpPr/>
        <p:nvPr/>
      </p:nvGrpSpPr>
      <p:grpSpPr>
        <a:xfrm>
          <a:off x="0" y="0"/>
          <a:ext cx="0" cy="0"/>
          <a:chOff x="0" y="0"/>
          <a:chExt cx="0" cy="0"/>
        </a:xfrm>
      </p:grpSpPr>
      <p:sp>
        <p:nvSpPr>
          <p:cNvPr id="2" name="Text 0"/>
          <p:cNvSpPr/>
          <p:nvPr/>
        </p:nvSpPr>
        <p:spPr>
          <a:xfrm>
            <a:off x="812800" y="1991959"/>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13D"/>
                </a:solidFill>
                <a:latin typeface="Arial" pitchFamily="34" charset="0"/>
                <a:ea typeface="Arial" pitchFamily="34" charset="-122"/>
                <a:cs typeface="Arial" pitchFamily="34" charset="-120"/>
              </a:rPr>
              <a:t>ESTATE PLANNING · INDIAN SUCCESSION ACT, 1925</a:t>
            </a:r>
            <a:endParaRPr lang="en-US" sz="1200" dirty="0"/>
          </a:p>
        </p:txBody>
      </p:sp>
      <p:sp>
        <p:nvSpPr>
          <p:cNvPr id="3" name="Text 1"/>
          <p:cNvSpPr/>
          <p:nvPr>
            <p:ph type="title"/>
          </p:nvPr>
        </p:nvSpPr>
        <p:spPr>
          <a:xfrm>
            <a:off x="812800" y="2459304"/>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14213D"/>
                </a:solidFill>
                <a:latin typeface="Georgia" pitchFamily="18" charset="0"/>
                <a:ea typeface="Georgia" pitchFamily="18" charset="-122"/>
                <a:cs typeface="Georgia" pitchFamily="18" charset="-120"/>
              </a:rPr>
              <a:t>Thank you</a:t>
            </a:r>
            <a:endParaRPr lang="en-US" sz="6000" dirty="0"/>
          </a:p>
        </p:txBody>
      </p:sp>
      <p:sp>
        <p:nvSpPr>
          <p:cNvPr id="4" name="Text 2"/>
          <p:cNvSpPr/>
          <p:nvPr/>
        </p:nvSpPr>
        <p:spPr>
          <a:xfrm>
            <a:off x="812800" y="3551504"/>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14213D"/>
                </a:solidFill>
                <a:latin typeface="Georgia" pitchFamily="18" charset="0"/>
                <a:ea typeface="Georgia" pitchFamily="18" charset="-122"/>
                <a:cs typeface="Georgia" pitchFamily="18" charset="-120"/>
              </a:rPr>
              <a:t>Questions?</a:t>
            </a:r>
            <a:endParaRPr lang="en-US" sz="2200" dirty="0"/>
          </a:p>
        </p:txBody>
      </p:sp>
      <p:pic>
        <p:nvPicPr>
          <p:cNvPr id="5" name="Image 0" descr="line">    </p:cNvPr>
          <p:cNvPicPr>
            <a:picLocks noChangeAspect="1"/>
          </p:cNvPicPr>
          <p:nvPr/>
        </p:nvPicPr>
        <p:blipFill>
          <a:blip r:embed="rId1"/>
          <a:srcRect l="0" r="0" t="0" b="0"/>
          <a:stretch/>
        </p:blipFill>
        <p:spPr>
          <a:xfrm>
            <a:off x="812800" y="4154754"/>
            <a:ext cx="1016000" cy="25400"/>
          </a:xfrm>
          <a:prstGeom prst="rect">
            <a:avLst/>
          </a:prstGeom>
        </p:spPr>
      </p:pic>
      <p:sp>
        <p:nvSpPr>
          <p:cNvPr id="6" name="Text 3"/>
          <p:cNvSpPr/>
          <p:nvPr/>
        </p:nvSpPr>
        <p:spPr>
          <a:xfrm>
            <a:off x="812800" y="4434154"/>
            <a:ext cx="10883392"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4213D"/>
                </a:solidFill>
                <a:latin typeface="Arial" pitchFamily="34" charset="0"/>
                <a:ea typeface="Arial" pitchFamily="34" charset="-122"/>
                <a:cs typeface="Arial" pitchFamily="34" charset="-120"/>
              </a:rPr>
              <a:t>MSF07 Trevor Dcosta · MSF13 Deepesh Gupta · MSF20 Sahil Nathwani · MSF24 Tejas Patil</a:t>
            </a:r>
            <a:endParaRPr lang="en-US" sz="1200" dirty="0"/>
          </a:p>
        </p:txBody>
      </p:sp>
    </p:spTree>
  </p:cSld>
  <p:clrMapOvr>
    <a:masterClrMapping/>
  </p:clrMapOvr>
</p:sld>
</file>

<file path=ppt/theme/theme1.xml><?xml version="1.0" encoding="utf-8"?>
<a:theme xmlns:a="http://schemas.openxmlformats.org/drawingml/2006/main" name="Estate Planning under the Indian Succession Act">
  <a:themeElements>
    <a:clrScheme name="Estate Planning under the Indian Succession Act">
      <a:dk1>
        <a:srgbClr val="14213D"/>
      </a:dk1>
      <a:lt1>
        <a:srgbClr val="F7F4EC"/>
      </a:lt1>
      <a:dk2>
        <a:srgbClr val="2B364F"/>
      </a:dk2>
      <a:lt2>
        <a:srgbClr val="BEBFC0"/>
      </a:lt2>
      <a:accent1>
        <a:srgbClr val="C9973A"/>
      </a:accent1>
      <a:accent2>
        <a:srgbClr val="8A2D3B"/>
      </a:accent2>
      <a:accent3>
        <a:srgbClr val="1F3158"/>
      </a:accent3>
      <a:accent4>
        <a:srgbClr val="DCE2F0"/>
      </a:accent4>
      <a:accent5>
        <a:srgbClr val="B7C0D4"/>
      </a:accent5>
      <a:accent6>
        <a:srgbClr val="5A6275"/>
      </a:accent6>
      <a:hlink>
        <a:srgbClr val="0563C1"/>
      </a:hlink>
      <a:folHlink>
        <a:srgbClr val="954F72"/>
      </a:folHlink>
    </a:clrScheme>
    <a:fontScheme name="Estate Planning under the Indian Succession Ac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Estate Planning under the Indian Succession Act</dc:title>
  <dc:subject/>
  <dc:creator/>
  <cp:lastModifiedBy/>
  <cp:revision>1</cp:revision>
  <dcterms:created xsi:type="dcterms:W3CDTF">2026-10-21T11:17:36Z</dcterms:created>
  <dcterms:modified xsi:type="dcterms:W3CDTF">2026-10-21T11:17:36Z</dcterms:modified>
</cp:coreProperties>
</file>