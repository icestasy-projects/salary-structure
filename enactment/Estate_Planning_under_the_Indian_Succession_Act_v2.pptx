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 about 0:45] Stand centre. Pause after the opening question.</a:t>
            </a:r>
          </a:p>
          <a:p>
            <a:r>
              <a:rPr lang="en-US" dirty="0"/>
              <a:t>Good afternoon, everyone. Let me start with a question. Suppose you write a will, sign it, get it witnessed and registered, and do everything the law asks. Can it still fail? [Pause. Look around the room.] Hold that thought. We will answer it live.</a:t>
            </a:r>
          </a:p>
          <a:p>
            <a:r>
              <a:rPr lang="en-US" dirty="0"/>
              <a:t>We are Trevor, Deepesh, Sahil and Tejas, and our topic is estate planning under the Indian Succession Act, 1925. We chose four court cases. Each answers one practical question: which law governs the family, whether probate is needed, what makes a will valid, and what happens when a will is challenged.</a:t>
            </a:r>
          </a:p>
          <a:p>
            <a:r>
              <a:rPr lang="en-US" dirty="0"/>
              <a:t>In the middle of the presentation we will stage a Supreme Court hearing from 2025, and you will be the audience in the courtroom. First, the framework.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 about 1:15] Point to the left card, then the right card.</a:t>
            </a:r>
          </a:p>
          <a:p>
            <a:r>
              <a:rPr lang="en-US" dirty="0"/>
              <a:t>The Act deals with two situations: a person dies without a will, or with one.</a:t>
            </a:r>
          </a:p>
          <a:p>
            <a:r>
              <a:rPr lang="en-US" dirty="0"/>
              <a:t>Without a will, the Act's default rules decide who inherits. Under Section 33, a widow takes one-third of the estate if there are lineal descendants, one-half if only other kindred survive, and the whole estate if there are neither. Parsis are excluded from this chapter by Section 31.</a:t>
            </a:r>
          </a:p>
          <a:p>
            <a:r>
              <a:rPr lang="en-US" dirty="0"/>
              <a:t>With a will, the question changes. The will must be validly executed under Section 63, and in many cases it must be probated under Section 213 before the family can enforce it.</a:t>
            </a:r>
          </a:p>
          <a:p>
            <a:r>
              <a:rPr lang="en-US" dirty="0"/>
              <a:t>Our four cases follow that path. Mary Roy asks which law governs. Clarence Pais covers probate. Gopal Krishan covers execution. And Gurdial Singh, which we will enact, shows what happens when a will is challenged. Let us start with Mary Roy.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 about 1:30] Read the three cards left to right: problem, ruling, lesson.</a:t>
            </a:r>
          </a:p>
          <a:p>
            <a:r>
              <a:rPr lang="en-US" dirty="0"/>
              <a:t>Mary Roy is one of the best-known Christian succession cases in India. Syrian Christians in the old state of Travancore were governed by the Travancore Christian Succession Act, under which a daughter received only a token share compared with her brothers.</a:t>
            </a:r>
          </a:p>
          <a:p>
            <a:r>
              <a:rPr lang="en-US" dirty="0"/>
              <a:t>Mary Roy challenged this. On 24 February 1986 the Supreme Court held that the Travancore Act had stood repealed since 1951, when the Indian Succession Act was extended to the former state. Note what the Court did not do: it decided the case on repeal, and did not rule on whether the old Act was unconstitutional. The result is that Christian daughters inherit equally with sons.</a:t>
            </a:r>
          </a:p>
          <a:p>
            <a:r>
              <a:rPr lang="en-US" dirty="0"/>
              <a:t>The planning lesson is practical. Families often assume a particular law governs them, and the assumption can be wrong. Confirm which succession law applies before you draft anything. Deepesh will take us to probate.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[Deepesh · about 1:30] Step forward as Trevor hands over.</a:t>
            </a:r>
          </a:p>
          <a:p>
            <a:r>
              <a:rPr lang="en-US" dirty="0"/>
              <a:t>Thank you, Trevor. Our second question is about probate. Section 213 says that nobody can establish rights as an executor or legatee under a will in court unless a court has granted probate or letters of administration.</a:t>
            </a:r>
          </a:p>
          <a:p>
            <a:r>
              <a:rPr lang="en-US" dirty="0"/>
              <a:t>In Clarence Pais, Indian Christians argued this was discriminatory, because other communities were largely exempt. They pointed to Kerala, which had exempted Christians by state amendment. The Supreme Court dismissed the petitions on 22 February 2001. Reading Sections 213 and 57 together, it found that Section 213(1) also applies to Parsis, and to Hindus, Buddhists, Sikhs and Jains within the old presidency towns. So it is not exclusive to Christians. The differences are historical, not religious.</a:t>
            </a:r>
          </a:p>
          <a:p>
            <a:r>
              <a:rPr lang="en-US" dirty="0"/>
              <a:t>For planning, probate is how a will gets enforced, and whether it is compulsory depends on the testator's community and on where the will was made or the property is located. For Indian Christians it applies across India except Kerala.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[Deepesh · about 1:30] Tick off the checklist on the left, then the ruling on the right.</a:t>
            </a:r>
          </a:p>
          <a:p>
            <a:r>
              <a:rPr lang="en-US" dirty="0"/>
              <a:t>Our third case is about execution. Section 63 lists what a will needs. The testator signs or puts a mark on it, or someone signs at his direction. The signature must show he meant it as a will. And at least two witnesses must attest it, each having seen him sign or received his personal acknowledgment of the signature.</a:t>
            </a:r>
          </a:p>
          <a:p>
            <a:r>
              <a:rPr lang="en-US" dirty="0"/>
              <a:t>In Gopal Krishan v. Daulat Ram, the testator left his one-fourth share in a plot of land to his nephew. The High Court read the word "or" in Section 63(c) as if it were "and", and demanded an extra requirement. The Supreme Court corrected that. The word is disjunctive, and a witness who saw the testator sign or affix his mark satisfies the statute.</a:t>
            </a:r>
          </a:p>
          <a:p>
            <a:r>
              <a:rPr lang="en-US" dirty="0"/>
              <a:t>The lesson: follow Section 63 exactly and the will is safe on form. But is form enough? Sahil will show 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[Sahil · about 1:00] Judges take their seats while Sahil speaks. Take the audience vote. Click to slide 7 on the last line.</a:t>
            </a:r>
          </a:p>
          <a:p>
            <a:r>
              <a:rPr lang="en-US" dirty="0"/>
              <a:t>Thank you, Deepesh. Everything so far has been about form: tick the Section 63 boxes and the will stands. Now let us test that.</a:t>
            </a:r>
          </a:p>
          <a:p>
            <a:r>
              <a:rPr lang="en-US" dirty="0"/>
              <a:t>We will enact the Supreme Court hearing in Gurdial Singh v. Jagir Kaur, decided on 17 July 2025. In one line: Maya Singh, a retired army havaldar, left 67 kanals and 4 marlas of land to his nephew in a registered will, and his widow, Jagir Kaur, said the will could not stand. The slide has the rest of the facts, and the bench will read them out.</a:t>
            </a:r>
          </a:p>
          <a:p>
            <a:r>
              <a:rPr lang="en-US" dirty="0"/>
              <a:t>Our cast: Trevor and Deepesh are the bench. I argue for the nephew, who says the will is genuine. Tejas argues for the widow.</a:t>
            </a:r>
          </a:p>
          <a:p>
            <a:r>
              <a:rPr lang="en-US" dirty="0"/>
              <a:t>Before we begin, a show of hands. The will is registered. The scribe and a witness proved it, and cross-examination did not shake them. The one thing against it is that it leaves everything to the nephew and never mentions the wife. Who thinks the will stands? [Count.] Who thinks it falls? [Count.] Remember your vote.</a:t>
            </a:r>
          </a:p>
          <a:p>
            <a:r>
              <a:rPr lang="en-US" dirty="0"/>
              <a:t>[CUE: Click to slide 7. Counsel stand at their marks. Trevor taps the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Deepesh, Sahil, Tejas · about 6:00] Slide stays up. Everyone speaks from the enactment script (Part C). Do not read the slide aloud.</a:t>
            </a:r>
          </a:p>
          <a:p>
            <a:r>
              <a:rPr lang="en-US" dirty="0"/>
              <a:t>Scene 1, opening and facts: about 1 minute (Trevor and Deepesh).</a:t>
            </a:r>
          </a:p>
          <a:p>
            <a:r>
              <a:rPr lang="en-US" dirty="0"/>
              <a:t>Scene 2, counsel for the nephew: about 2 minutes (Sahil).</a:t>
            </a:r>
          </a:p>
          <a:p>
            <a:r>
              <a:rPr lang="en-US" dirty="0"/>
              <a:t>Scene 3, counsel for the widow: about 2 minutes (Tejas).</a:t>
            </a:r>
          </a:p>
          <a:p>
            <a:r>
              <a:rPr lang="en-US" dirty="0"/>
              <a:t>Scene 4, questions from the bench: about 1 minute.</a:t>
            </a:r>
          </a:p>
          <a:p>
            <a:r>
              <a:rPr lang="en-US" dirty="0"/>
              <a:t>Opening line: "Order, order. The court is in session." Last line of Scene 4: "Thank you, counsel. The court will confer."</a:t>
            </a:r>
          </a:p>
          <a:p>
            <a:r>
              <a:rPr lang="en-US" dirty="0"/>
              <a:t>[CUE: When Trevor says "The court will confer", Deepesh clicks to slide 8.]</a:t>
            </a:r>
          </a:p>
          <a:p>
            <a:r>
              <a:rPr lang="en-US" dirty="0"/>
              <a:t>If running long, drop the two short bench interruptions in Scenes 2 and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Deepesh, then Sahil · about 2:30] Judges deliver the verdict (Scene 5). Then Sahil steps out of role for the debrief.</a:t>
            </a:r>
          </a:p>
          <a:p>
            <a:r>
              <a:rPr lang="en-US" dirty="0"/>
              <a:t>Scene 5, the verdict: about 2 minutes (Trevor and Deepesh), from the enactment script. Last line: "The appeals are dismissed." Trevor taps the table. Everyone freezes for three seconds, then steps out of role.</a:t>
            </a:r>
          </a:p>
          <a:p>
            <a:r>
              <a:rPr lang="en-US" dirty="0"/>
              <a:t>DEBRIEF (Sahil, about 30 seconds): "That is the judgment. Back to your votes: who called it? Every Section 63 box was ticked. Signed, witnessed, registered, and the witnesses were not shaken. The will still failed, because of what it left out and because the nephew himself denied the wife's status. The court did not say you cannot leave out an heir. It said it weighs all the circumstances together, and the person relying on the will must dispel the suspicion."</a:t>
            </a:r>
          </a:p>
          <a:p>
            <a:r>
              <a:rPr lang="en-US" dirty="0"/>
              <a:t>HANDOFF: "Tejas will turn that into a checklist."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 about 1:30] Walk down the table row by row.</a:t>
            </a:r>
          </a:p>
          <a:p>
            <a:r>
              <a:rPr lang="en-US" dirty="0"/>
              <a:t>Let us put the four cases into a checklist.</a:t>
            </a:r>
          </a:p>
          <a:p>
            <a:r>
              <a:rPr lang="en-US" dirty="0"/>
              <a:t>Step one: confirm which succession law governs the family. Mary Roy shows that an assumption about the governing law can be wrong.</a:t>
            </a:r>
          </a:p>
          <a:p>
            <a:r>
              <a:rPr lang="en-US" dirty="0"/>
              <a:t>Step two: draft the will to meet Section 63, with witnesses who actually see the signing or receive the testator's acknowledgment. That is Gopal Krishan.</a:t>
            </a:r>
          </a:p>
          <a:p>
            <a:r>
              <a:rPr lang="en-US" dirty="0"/>
              <a:t>Step three: name every natural heir, and explain any exclusion. That is Gurdial Singh. The point is not that a spouse can never be left out. The court said leaving out an heir is not suspicious by itself. The point is that silence invites suspicion, and reasons answer it.</a:t>
            </a:r>
          </a:p>
          <a:p>
            <a:r>
              <a:rPr lang="en-US" dirty="0"/>
              <a:t>Step four: plan the probate route early. Clarence Pais confirms that probate is how a will gets enforced where the law requires it.</a:t>
            </a:r>
          </a:p>
          <a:p>
            <a:r>
              <a:rPr lang="en-US" dirty="0"/>
              <a:t>If you remember one line: a registered, properly witnessed will can still fail if it reads like someone else's will. This is a class presentation and not legal advice. A real estate plan needs a lawyer who knows the family's circumstances.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 about 1:00+] Stand together. Answer from the Q&amp;A prep sheet (Part E). The first speaker to catch the question answers; pass to the case owner if it is about their case.</a:t>
            </a:r>
          </a:p>
          <a:p>
            <a:r>
              <a:rPr lang="en-US" dirty="0"/>
              <a:t>Thank you for listening. We are happy to take questions.</a:t>
            </a:r>
          </a:p>
          <a:p>
            <a:r>
              <a:rPr lang="en-US" dirty="0"/>
              <a:t>Case owners: Mary Roy and the framework, Trevor. Clarence Pais and Gopal Krishan, Deepesh. The hearing for the nephew, Sahil. The hearing for the widow and the checklist, Tejas.</a:t>
            </a:r>
          </a:p>
          <a:p>
            <a:r>
              <a:rPr lang="en-US" dirty="0"/>
              <a:t>If someone asks where to read the judgments: Mary Roy ((1986) 2 SCC 209, decided 24 February 1986; summary at https://www.livelaw.in/amp/news-updates/mary-roy-petitioner-in-landmark-verdict-giving-equal-rights-for-daughters-in-christian-succession-passes-away-208078). Clarence Pais ((2001) 4 SCC 325; https://future.indiankanoon.org/doc/1422425). Gopal Krishan v. Daulat Ram (2025 INSC 18; summary at https://lawfoyer.in/gopal-krishan-ors-v-daulat-ram-ors-2025-1-s-c-r-93-2025-insc-18/). Gurdial Singh v. Jagir Kaur (2025 INSC 866; https://api.sci.gov.in/supremecourt/2010/10063/10063_2010_2_1501_62335_Judgement_17-Jul-2025.pdf). The Section 33 summary is from the bare Act at https://www.advocatekhoj.com/library/bareacts/indiansuccession/6.php.</a:t>
            </a:r>
          </a:p>
          <a:p>
            <a:r>
              <a:rPr lang="en-US" dirty="0"/>
              <a:t>We read the Gurdial Singh judgment itself. The other holdings were checked against summaries, so verify them in the full text before quoting.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213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F7F4EC"/>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27"/>
            <a:ext cx="10566400" cy="3957373"/>
          </a:xfrm>
          <a:prstGeom prst="rect">
            <a:avLst/>
          </a:prstGeom>
          <a:noFill/>
          <a:ln/>
        </p:spPr>
        <p:txBody>
          <a:bodyPr wrap="square" lIns="0" tIns="0" rIns="0" bIns="0" rtlCol="0" anchor="t"/>
          <a:lstStyle>
            <a:lvl1pPr algn="l" indent="0" marL="0">
              <a:lnSpc>
                <a:spcPct val="140000"/>
              </a:lnSpc>
              <a:buNone/>
              <a:defRPr lang="en-US" sz="1600" dirty="0">
                <a:solidFill>
                  <a:srgbClr val="F7F4E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13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F7F4EC"/>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27"/>
            <a:ext cx="10566400" cy="3957373"/>
          </a:xfrm>
          <a:prstGeom prst="rect">
            <a:avLst/>
          </a:prstGeom>
          <a:noFill/>
          <a:ln/>
        </p:spPr>
        <p:txBody>
          <a:bodyPr wrap="square" lIns="0" tIns="0" rIns="0" bIns="0" rtlCol="0" anchor="t"/>
          <a:lstStyle>
            <a:lvl1pPr algn="l" indent="0" marL="0">
              <a:lnSpc>
                <a:spcPct val="140000"/>
              </a:lnSpc>
              <a:buNone/>
              <a:defRPr lang="en-US" sz="1600" dirty="0">
                <a:solidFill>
                  <a:srgbClr val="F7F4E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633273"/>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ESTATE PLANNING · GROUP PRESENTATION</a:t>
            </a:r>
            <a:endParaRPr lang="en-US" sz="1200" dirty="0"/>
          </a:p>
        </p:txBody>
      </p:sp>
      <p:sp>
        <p:nvSpPr>
          <p:cNvPr id="3" name="Text 1"/>
          <p:cNvSpPr/>
          <p:nvPr>
            <p:ph type="title"/>
          </p:nvPr>
        </p:nvSpPr>
        <p:spPr>
          <a:xfrm>
            <a:off x="812800" y="2100615"/>
            <a:ext cx="10883392" cy="1366485"/>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4EC"/>
                </a:solidFill>
                <a:latin typeface="Georgia" pitchFamily="18" charset="0"/>
                <a:ea typeface="Georgia" pitchFamily="18" charset="-122"/>
                <a:cs typeface="Georgia" pitchFamily="18" charset="-120"/>
              </a:rPr>
              <a:t>Estate Planning under the Indian Succession Act, 1925</a:t>
            </a:r>
            <a:endParaRPr lang="en-US" sz="4800" dirty="0"/>
          </a:p>
        </p:txBody>
      </p:sp>
      <p:pic>
        <p:nvPicPr>
          <p:cNvPr id="4" name="Image 0" descr="line">    </p:cNvPr>
          <p:cNvPicPr>
            <a:picLocks noChangeAspect="1"/>
          </p:cNvPicPr>
          <p:nvPr/>
        </p:nvPicPr>
        <p:blipFill>
          <a:blip r:embed="rId1"/>
          <a:srcRect l="0" r="0" t="0" b="0"/>
          <a:stretch/>
        </p:blipFill>
        <p:spPr>
          <a:xfrm>
            <a:off x="812800" y="3695700"/>
            <a:ext cx="1016000" cy="25400"/>
          </a:xfrm>
          <a:prstGeom prst="rect">
            <a:avLst/>
          </a:prstGeom>
        </p:spPr>
      </p:pic>
      <p:sp>
        <p:nvSpPr>
          <p:cNvPr id="5" name="Text 2"/>
          <p:cNvSpPr/>
          <p:nvPr/>
        </p:nvSpPr>
        <p:spPr>
          <a:xfrm>
            <a:off x="812800" y="3975100"/>
            <a:ext cx="10883392"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DCE2F0"/>
                </a:solidFill>
                <a:latin typeface="Arial" pitchFamily="34" charset="0"/>
                <a:ea typeface="Arial" pitchFamily="34" charset="-122"/>
                <a:cs typeface="Arial" pitchFamily="34" charset="-120"/>
              </a:rPr>
              <a:t>Lessons on succession, probate and wills from four court cases</a:t>
            </a:r>
            <a:endParaRPr lang="en-US" sz="2200" dirty="0"/>
          </a:p>
        </p:txBody>
      </p:sp>
      <p:sp>
        <p:nvSpPr>
          <p:cNvPr id="6" name="Text 3"/>
          <p:cNvSpPr/>
          <p:nvPr/>
        </p:nvSpPr>
        <p:spPr>
          <a:xfrm>
            <a:off x="812800" y="4564327"/>
            <a:ext cx="1088339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0D4"/>
                </a:solidFill>
                <a:latin typeface="Arial" pitchFamily="34" charset="0"/>
                <a:ea typeface="Arial" pitchFamily="34" charset="-122"/>
                <a:cs typeface="Arial" pitchFamily="34" charset="-120"/>
              </a:rPr>
              <a:t>MSF07 Trevor Dcosta · MSF13 Deepesh Gupta · MSF20 Sahil Nathwani · MSF24 Tejas Patil</a:t>
            </a:r>
            <a:endParaRPr lang="en-US" sz="1200" dirty="0"/>
          </a:p>
          <a:p>
            <a:pPr algn="l" indent="0" marL="0">
              <a:lnSpc>
                <a:spcPts val="1800"/>
              </a:lnSpc>
              <a:buNone/>
            </a:pPr>
            <a:r>
              <a:rPr lang="en-US" sz="1200" dirty="0">
                <a:solidFill>
                  <a:srgbClr val="B7C0D4"/>
                </a:solidFill>
                <a:latin typeface="Arial" pitchFamily="34" charset="0"/>
                <a:ea typeface="Arial" pitchFamily="34" charset="-122"/>
                <a:cs typeface="Arial" pitchFamily="34" charset="-120"/>
              </a:rPr>
              <a:t>MSc Finance, SIMSREE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THE FRAMEWORK</a:t>
            </a:r>
            <a:endParaRPr lang="en-US" sz="1200" dirty="0"/>
          </a:p>
        </p:txBody>
      </p:sp>
      <p:sp>
        <p:nvSpPr>
          <p:cNvPr id="3" name="Text 1"/>
          <p:cNvSpPr/>
          <p:nvPr>
            <p:ph type="title"/>
          </p:nvPr>
        </p:nvSpPr>
        <p:spPr>
          <a:xfrm>
            <a:off x="812800" y="1280143"/>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The Act at a glance: with a will, or without</a:t>
            </a:r>
            <a:endParaRPr lang="en-US" sz="3600" dirty="0"/>
          </a:p>
        </p:txBody>
      </p:sp>
      <p:sp>
        <p:nvSpPr>
          <p:cNvPr id="4" name="Shape 2"/>
          <p:cNvSpPr/>
          <p:nvPr/>
        </p:nvSpPr>
        <p:spPr>
          <a:xfrm>
            <a:off x="815975" y="2040202"/>
            <a:ext cx="5180895" cy="2087474"/>
          </a:xfrm>
          <a:prstGeom prst="roundRect">
            <a:avLst>
              <a:gd name="adj" fmla="val 4715"/>
            </a:avLst>
          </a:prstGeom>
          <a:solidFill>
            <a:srgbClr val="FFFDF8"/>
          </a:solidFill>
          <a:ln w="6350">
            <a:solidFill>
              <a:srgbClr val="DDD6C4"/>
            </a:solidFill>
            <a:prstDash val="solid"/>
          </a:ln>
        </p:spPr>
      </p:sp>
      <p:sp>
        <p:nvSpPr>
          <p:cNvPr id="5" name="Text 3"/>
          <p:cNvSpPr/>
          <p:nvPr/>
        </p:nvSpPr>
        <p:spPr>
          <a:xfrm>
            <a:off x="1072444" y="2296671"/>
            <a:ext cx="480799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No will (intestate)</a:t>
            </a:r>
            <a:endParaRPr lang="en-US" sz="2200" dirty="0"/>
          </a:p>
        </p:txBody>
      </p:sp>
      <p:sp>
        <p:nvSpPr>
          <p:cNvPr id="6" name="Text 4"/>
          <p:cNvSpPr/>
          <p:nvPr/>
        </p:nvSpPr>
        <p:spPr>
          <a:xfrm>
            <a:off x="1072444" y="2733499"/>
            <a:ext cx="4807994"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The Act’s default rules apply. Under Section 33, a widow takes one-third if there are lineal descendants, one-half if only kindred survive, and everything if neither.</a:t>
            </a:r>
            <a:endParaRPr lang="en-US" sz="1600" dirty="0"/>
          </a:p>
        </p:txBody>
      </p:sp>
      <p:sp>
        <p:nvSpPr>
          <p:cNvPr id="7" name="Shape 5"/>
          <p:cNvSpPr/>
          <p:nvPr/>
        </p:nvSpPr>
        <p:spPr>
          <a:xfrm>
            <a:off x="6203245" y="2037027"/>
            <a:ext cx="5175956" cy="2093824"/>
          </a:xfrm>
          <a:prstGeom prst="roundRect">
            <a:avLst>
              <a:gd name="adj" fmla="val 4852"/>
            </a:avLst>
          </a:prstGeom>
          <a:solidFill>
            <a:srgbClr val="14213D"/>
          </a:solidFill>
          <a:ln/>
        </p:spPr>
      </p:sp>
      <p:sp>
        <p:nvSpPr>
          <p:cNvPr id="8" name="Text 6"/>
          <p:cNvSpPr/>
          <p:nvPr/>
        </p:nvSpPr>
        <p:spPr>
          <a:xfrm>
            <a:off x="6457245" y="2291027"/>
            <a:ext cx="480799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A will (testate)</a:t>
            </a:r>
            <a:endParaRPr lang="en-US" sz="2200" dirty="0"/>
          </a:p>
        </p:txBody>
      </p:sp>
      <p:sp>
        <p:nvSpPr>
          <p:cNvPr id="9" name="Text 7"/>
          <p:cNvSpPr/>
          <p:nvPr/>
        </p:nvSpPr>
        <p:spPr>
          <a:xfrm>
            <a:off x="6457245" y="2727854"/>
            <a:ext cx="4807994"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The will must be validly executed (Section 63) and, in many cases, probated (Section 213) before the family can enforce it.</a:t>
            </a:r>
            <a:endParaRPr lang="en-US" sz="1600" dirty="0"/>
          </a:p>
        </p:txBody>
      </p:sp>
      <p:sp>
        <p:nvSpPr>
          <p:cNvPr id="10" name="Text 8"/>
          <p:cNvSpPr/>
          <p:nvPr/>
        </p:nvSpPr>
        <p:spPr>
          <a:xfrm>
            <a:off x="812800" y="4384852"/>
            <a:ext cx="1088339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B3652"/>
                </a:solidFill>
                <a:latin typeface="Arial" pitchFamily="34" charset="0"/>
                <a:ea typeface="Arial" pitchFamily="34" charset="-122"/>
                <a:cs typeface="Arial" pitchFamily="34" charset="-120"/>
              </a:rPr>
              <a:t>Four cases:</a:t>
            </a:r>
            <a:r>
              <a:rPr lang="en-US" sz="1600" dirty="0">
                <a:solidFill>
                  <a:srgbClr val="2B3652"/>
                </a:solidFill>
                <a:latin typeface="Arial" pitchFamily="34" charset="0"/>
                <a:ea typeface="Arial" pitchFamily="34" charset="-122"/>
                <a:cs typeface="Arial" pitchFamily="34" charset="-120"/>
              </a:rPr>
              <a:t> Mary Roy (which law governs), Clarence Pais (probate), Gopal Krishan (execution), Gurdial Singh (proof, enacted).</a:t>
            </a:r>
            <a:endParaRPr lang="en-US" sz="1600" dirty="0"/>
          </a:p>
        </p:txBody>
      </p:sp>
      <p:sp>
        <p:nvSpPr>
          <p:cNvPr id="11" name="Text 9"/>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Section 33 summary from the bare Act; Chapter II does not apply to Parsis (Section 31)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CASE 1 · MARY ROY V. STATE OF KERALA ((1986) 2 SCC 209)</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4EC"/>
                </a:solidFill>
                <a:latin typeface="Georgia" pitchFamily="18" charset="0"/>
                <a:ea typeface="Georgia" pitchFamily="18" charset="-122"/>
                <a:cs typeface="Georgia" pitchFamily="18" charset="-120"/>
              </a:rPr>
              <a:t>Which succession law governs the family?</a:t>
            </a:r>
            <a:endParaRPr lang="en-US" sz="3600" dirty="0"/>
          </a:p>
        </p:txBody>
      </p:sp>
      <p:sp>
        <p:nvSpPr>
          <p:cNvPr id="4" name="Shape 2"/>
          <p:cNvSpPr/>
          <p:nvPr/>
        </p:nvSpPr>
        <p:spPr>
          <a:xfrm>
            <a:off x="812800" y="2037028"/>
            <a:ext cx="3386667" cy="2651390"/>
          </a:xfrm>
          <a:prstGeom prst="roundRect">
            <a:avLst>
              <a:gd name="adj" fmla="val 3832"/>
            </a:avLst>
          </a:prstGeom>
          <a:solidFill>
            <a:srgbClr val="1F3158"/>
          </a:solidFill>
          <a:ln/>
        </p:spPr>
      </p:sp>
      <p:sp>
        <p:nvSpPr>
          <p:cNvPr id="5" name="Text 3"/>
          <p:cNvSpPr/>
          <p:nvPr/>
        </p:nvSpPr>
        <p:spPr>
          <a:xfrm>
            <a:off x="1066800" y="2291028"/>
            <a:ext cx="296502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problem</a:t>
            </a:r>
            <a:endParaRPr lang="en-US" sz="2200" dirty="0"/>
          </a:p>
        </p:txBody>
      </p:sp>
      <p:sp>
        <p:nvSpPr>
          <p:cNvPr id="6" name="Text 4"/>
          <p:cNvSpPr/>
          <p:nvPr/>
        </p:nvSpPr>
        <p:spPr>
          <a:xfrm>
            <a:off x="1066800" y="2727854"/>
            <a:ext cx="2965027"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2F0"/>
                </a:solidFill>
                <a:latin typeface="Arial" pitchFamily="34" charset="0"/>
                <a:ea typeface="Arial" pitchFamily="34" charset="-122"/>
                <a:cs typeface="Arial" pitchFamily="34" charset="-120"/>
              </a:rPr>
              <a:t>Christian daughters in Travancore received only a token share under the Travancore Christian Succession Act.</a:t>
            </a:r>
            <a:endParaRPr lang="en-US" sz="1600" dirty="0"/>
          </a:p>
        </p:txBody>
      </p:sp>
      <p:sp>
        <p:nvSpPr>
          <p:cNvPr id="7" name="Shape 5"/>
          <p:cNvSpPr/>
          <p:nvPr/>
        </p:nvSpPr>
        <p:spPr>
          <a:xfrm>
            <a:off x="4402667" y="2037028"/>
            <a:ext cx="3386667" cy="2651390"/>
          </a:xfrm>
          <a:prstGeom prst="roundRect">
            <a:avLst>
              <a:gd name="adj" fmla="val 3832"/>
            </a:avLst>
          </a:prstGeom>
          <a:solidFill>
            <a:srgbClr val="1F3158"/>
          </a:solidFill>
          <a:ln/>
        </p:spPr>
      </p:sp>
      <p:sp>
        <p:nvSpPr>
          <p:cNvPr id="8" name="Text 6"/>
          <p:cNvSpPr/>
          <p:nvPr/>
        </p:nvSpPr>
        <p:spPr>
          <a:xfrm>
            <a:off x="4656667" y="2291028"/>
            <a:ext cx="296502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ruling</a:t>
            </a:r>
            <a:endParaRPr lang="en-US" sz="2200" dirty="0"/>
          </a:p>
        </p:txBody>
      </p:sp>
      <p:sp>
        <p:nvSpPr>
          <p:cNvPr id="9" name="Text 7"/>
          <p:cNvSpPr/>
          <p:nvPr/>
        </p:nvSpPr>
        <p:spPr>
          <a:xfrm>
            <a:off x="4656667" y="2727854"/>
            <a:ext cx="2965027" cy="173196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2F0"/>
                </a:solidFill>
                <a:latin typeface="Arial" pitchFamily="34" charset="0"/>
                <a:ea typeface="Arial" pitchFamily="34" charset="-122"/>
                <a:cs typeface="Arial" pitchFamily="34" charset="-120"/>
              </a:rPr>
              <a:t>On 24 February 1986 the Court held that the Travancore Act stood repealed from 1951, when the ISA was extended to the state. Daughters inherit equally.</a:t>
            </a:r>
            <a:endParaRPr lang="en-US" sz="1600" dirty="0"/>
          </a:p>
        </p:txBody>
      </p:sp>
      <p:sp>
        <p:nvSpPr>
          <p:cNvPr id="10" name="Shape 8"/>
          <p:cNvSpPr/>
          <p:nvPr/>
        </p:nvSpPr>
        <p:spPr>
          <a:xfrm>
            <a:off x="7992533" y="2037028"/>
            <a:ext cx="3386667" cy="2651390"/>
          </a:xfrm>
          <a:prstGeom prst="roundRect">
            <a:avLst>
              <a:gd name="adj" fmla="val 3832"/>
            </a:avLst>
          </a:prstGeom>
          <a:solidFill>
            <a:srgbClr val="C9973A"/>
          </a:solidFill>
          <a:ln/>
        </p:spPr>
      </p:sp>
      <p:sp>
        <p:nvSpPr>
          <p:cNvPr id="11" name="Text 9"/>
          <p:cNvSpPr/>
          <p:nvPr/>
        </p:nvSpPr>
        <p:spPr>
          <a:xfrm>
            <a:off x="8246533" y="2291028"/>
            <a:ext cx="2965027" cy="639939"/>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13D"/>
                </a:solidFill>
                <a:latin typeface="Georgia" pitchFamily="18" charset="0"/>
                <a:ea typeface="Georgia" pitchFamily="18" charset="-122"/>
                <a:cs typeface="Georgia" pitchFamily="18" charset="-120"/>
              </a:rPr>
              <a:t>The planning lesson</a:t>
            </a:r>
            <a:endParaRPr lang="en-US" sz="2200" dirty="0"/>
          </a:p>
        </p:txBody>
      </p:sp>
      <p:sp>
        <p:nvSpPr>
          <p:cNvPr id="12" name="Text 10"/>
          <p:cNvSpPr/>
          <p:nvPr/>
        </p:nvSpPr>
        <p:spPr>
          <a:xfrm>
            <a:off x="8246533" y="3007167"/>
            <a:ext cx="2965027"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Check which law actually governs the family before drafting anything.</a:t>
            </a:r>
            <a:endParaRPr lang="en-US" sz="1600" dirty="0"/>
          </a:p>
        </p:txBody>
      </p:sp>
      <p:sp>
        <p:nvSpPr>
          <p:cNvPr id="13" name="Text 11"/>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D4"/>
                </a:solidFill>
                <a:latin typeface="Arial" pitchFamily="34" charset="0"/>
                <a:ea typeface="Arial" pitchFamily="34" charset="-122"/>
                <a:cs typeface="Arial" pitchFamily="34" charset="-120"/>
              </a:rPr>
              <a:t>Topic 1 · Which law governs · Mary Roy (SC, 1986)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CASE 2 · CLARENCE PAIS V. UNION OF INDIA ((2001) 4 SCC 325)</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Is probate the gate to enforcing a will?</a:t>
            </a:r>
            <a:endParaRPr lang="en-US" sz="3600" dirty="0"/>
          </a:p>
        </p:txBody>
      </p:sp>
      <p:sp>
        <p:nvSpPr>
          <p:cNvPr id="4" name="Shape 2"/>
          <p:cNvSpPr/>
          <p:nvPr/>
        </p:nvSpPr>
        <p:spPr>
          <a:xfrm>
            <a:off x="815975" y="2040203"/>
            <a:ext cx="3384021" cy="2371901"/>
          </a:xfrm>
          <a:prstGeom prst="roundRect">
            <a:avLst>
              <a:gd name="adj" fmla="val 4150"/>
            </a:avLst>
          </a:prstGeom>
          <a:solidFill>
            <a:srgbClr val="FFFDF8"/>
          </a:solidFill>
          <a:ln w="6350">
            <a:solidFill>
              <a:srgbClr val="DDD6C4"/>
            </a:solidFill>
            <a:prstDash val="solid"/>
          </a:ln>
        </p:spPr>
      </p:sp>
      <p:sp>
        <p:nvSpPr>
          <p:cNvPr id="5" name="Text 3"/>
          <p:cNvSpPr/>
          <p:nvPr/>
        </p:nvSpPr>
        <p:spPr>
          <a:xfrm>
            <a:off x="1072444" y="2296672"/>
            <a:ext cx="295721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The rule</a:t>
            </a:r>
            <a:endParaRPr lang="en-US" sz="2200" dirty="0"/>
          </a:p>
        </p:txBody>
      </p:sp>
      <p:sp>
        <p:nvSpPr>
          <p:cNvPr id="6" name="Text 4"/>
          <p:cNvSpPr/>
          <p:nvPr/>
        </p:nvSpPr>
        <p:spPr>
          <a:xfrm>
            <a:off x="1072444" y="2733498"/>
            <a:ext cx="2957214"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Under Section 213, no right as executor or legatee can be established in court without probate or letters of administration.</a:t>
            </a:r>
            <a:endParaRPr lang="en-US" sz="1600" dirty="0"/>
          </a:p>
        </p:txBody>
      </p:sp>
      <p:sp>
        <p:nvSpPr>
          <p:cNvPr id="7" name="Shape 5"/>
          <p:cNvSpPr/>
          <p:nvPr/>
        </p:nvSpPr>
        <p:spPr>
          <a:xfrm>
            <a:off x="4409546" y="2040203"/>
            <a:ext cx="3384109" cy="2371901"/>
          </a:xfrm>
          <a:prstGeom prst="roundRect">
            <a:avLst>
              <a:gd name="adj" fmla="val 4150"/>
            </a:avLst>
          </a:prstGeom>
          <a:solidFill>
            <a:srgbClr val="FFFDF8"/>
          </a:solidFill>
          <a:ln w="6350">
            <a:solidFill>
              <a:srgbClr val="DDD6C4"/>
            </a:solidFill>
            <a:prstDash val="solid"/>
          </a:ln>
        </p:spPr>
      </p:sp>
      <p:sp>
        <p:nvSpPr>
          <p:cNvPr id="8" name="Text 6"/>
          <p:cNvSpPr/>
          <p:nvPr/>
        </p:nvSpPr>
        <p:spPr>
          <a:xfrm>
            <a:off x="4666015" y="2296672"/>
            <a:ext cx="295730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The challenge</a:t>
            </a:r>
            <a:endParaRPr lang="en-US" sz="2200" dirty="0"/>
          </a:p>
        </p:txBody>
      </p:sp>
      <p:sp>
        <p:nvSpPr>
          <p:cNvPr id="9" name="Text 7"/>
          <p:cNvSpPr/>
          <p:nvPr/>
        </p:nvSpPr>
        <p:spPr>
          <a:xfrm>
            <a:off x="4666015" y="2733498"/>
            <a:ext cx="2957305"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Indian Christians said this discriminated against them. Kerala had already exempted Christians by state amendment.</a:t>
            </a:r>
            <a:endParaRPr lang="en-US" sz="1600" dirty="0"/>
          </a:p>
        </p:txBody>
      </p:sp>
      <p:sp>
        <p:nvSpPr>
          <p:cNvPr id="10" name="Shape 8"/>
          <p:cNvSpPr/>
          <p:nvPr/>
        </p:nvSpPr>
        <p:spPr>
          <a:xfrm>
            <a:off x="8000030" y="2037028"/>
            <a:ext cx="3379170" cy="2378251"/>
          </a:xfrm>
          <a:prstGeom prst="roundRect">
            <a:avLst>
              <a:gd name="adj" fmla="val 4272"/>
            </a:avLst>
          </a:prstGeom>
          <a:solidFill>
            <a:srgbClr val="14213D"/>
          </a:solidFill>
          <a:ln/>
        </p:spPr>
      </p:sp>
      <p:sp>
        <p:nvSpPr>
          <p:cNvPr id="11" name="Text 9"/>
          <p:cNvSpPr/>
          <p:nvPr/>
        </p:nvSpPr>
        <p:spPr>
          <a:xfrm>
            <a:off x="8254030" y="2291028"/>
            <a:ext cx="295730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answer</a:t>
            </a:r>
            <a:endParaRPr lang="en-US" sz="2200" dirty="0"/>
          </a:p>
        </p:txBody>
      </p:sp>
      <p:sp>
        <p:nvSpPr>
          <p:cNvPr id="12" name="Text 10"/>
          <p:cNvSpPr/>
          <p:nvPr/>
        </p:nvSpPr>
        <p:spPr>
          <a:xfrm>
            <a:off x="8254030" y="2727854"/>
            <a:ext cx="2957305"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Petitions dismissed on 22 February 2001. Section 213(1) is not limited to Christians, and differences rest on history, not religion.</a:t>
            </a:r>
            <a:endParaRPr lang="en-US" sz="1600" dirty="0"/>
          </a:p>
        </p:txBody>
      </p:sp>
      <p:sp>
        <p:nvSpPr>
          <p:cNvPr id="13" name="Text 11"/>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Topic 2 · Probate · Clarence Pais (SC, 2001)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CASE 3 · GOPAL KRISHAN V. DAULAT RAM (SC, 2025 INSC 18)</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4EC"/>
                </a:solidFill>
                <a:latin typeface="Georgia" pitchFamily="18" charset="0"/>
                <a:ea typeface="Georgia" pitchFamily="18" charset="-122"/>
                <a:cs typeface="Georgia" pitchFamily="18" charset="-120"/>
              </a:rPr>
              <a:t>What makes a will validly executed</a:t>
            </a:r>
            <a:endParaRPr lang="en-US" sz="3600" dirty="0"/>
          </a:p>
        </p:txBody>
      </p:sp>
      <p:sp>
        <p:nvSpPr>
          <p:cNvPr id="4" name="Shape 2"/>
          <p:cNvSpPr/>
          <p:nvPr/>
        </p:nvSpPr>
        <p:spPr>
          <a:xfrm>
            <a:off x="812800" y="2037026"/>
            <a:ext cx="5181600" cy="2778390"/>
          </a:xfrm>
          <a:prstGeom prst="roundRect">
            <a:avLst>
              <a:gd name="adj" fmla="val 3657"/>
            </a:avLst>
          </a:prstGeom>
          <a:solidFill>
            <a:srgbClr val="1F3158"/>
          </a:solidFill>
          <a:ln/>
        </p:spPr>
      </p:sp>
      <p:sp>
        <p:nvSpPr>
          <p:cNvPr id="5" name="Text 3"/>
          <p:cNvSpPr/>
          <p:nvPr/>
        </p:nvSpPr>
        <p:spPr>
          <a:xfrm>
            <a:off x="1117600" y="2341826"/>
            <a:ext cx="470916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Section 63 checklist</a:t>
            </a:r>
            <a:endParaRPr lang="en-US" sz="2200" dirty="0"/>
          </a:p>
        </p:txBody>
      </p:sp>
      <p:sp>
        <p:nvSpPr>
          <p:cNvPr id="6" name="Text 4"/>
          <p:cNvSpPr/>
          <p:nvPr/>
        </p:nvSpPr>
        <p:spPr>
          <a:xfrm>
            <a:off x="1194308" y="2804055"/>
            <a:ext cx="4624832" cy="1731963"/>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DCE2F0"/>
                </a:solidFill>
                <a:latin typeface="Arial" pitchFamily="34" charset="0"/>
                <a:ea typeface="Arial" pitchFamily="34" charset="-122"/>
                <a:cs typeface="Arial" pitchFamily="34" charset="-120"/>
              </a:rPr>
              <a:t>The testator signs or marks the will, or another person signs at his direction</a:t>
            </a:r>
            <a:endParaRPr lang="en-US" sz="1600" dirty="0"/>
          </a:p>
          <a:p>
            <a:pPr algn="l" marL="177292" indent="-177292">
              <a:lnSpc>
                <a:spcPts val="2240"/>
              </a:lnSpc>
              <a:buSzPct val="100000"/>
              <a:buChar char="•"/>
            </a:pPr>
            <a:r>
              <a:rPr lang="en-US" sz="1600" dirty="0">
                <a:solidFill>
                  <a:srgbClr val="DCE2F0"/>
                </a:solidFill>
                <a:latin typeface="Arial" pitchFamily="34" charset="0"/>
                <a:ea typeface="Arial" pitchFamily="34" charset="-122"/>
                <a:cs typeface="Arial" pitchFamily="34" charset="-120"/>
              </a:rPr>
              <a:t>The signature shows he meant it as a will</a:t>
            </a:r>
            <a:endParaRPr lang="en-US" sz="1600" dirty="0"/>
          </a:p>
          <a:p>
            <a:pPr algn="l" marL="177292" indent="-177292">
              <a:lnSpc>
                <a:spcPts val="2240"/>
              </a:lnSpc>
              <a:buSzPct val="100000"/>
              <a:buChar char="•"/>
            </a:pPr>
            <a:r>
              <a:rPr lang="en-US" sz="1600" dirty="0">
                <a:solidFill>
                  <a:srgbClr val="DCE2F0"/>
                </a:solidFill>
                <a:latin typeface="Arial" pitchFamily="34" charset="0"/>
                <a:ea typeface="Arial" pitchFamily="34" charset="-122"/>
                <a:cs typeface="Arial" pitchFamily="34" charset="-120"/>
              </a:rPr>
              <a:t>Two or more witnesses attest it</a:t>
            </a:r>
            <a:endParaRPr lang="en-US" sz="1600" dirty="0"/>
          </a:p>
          <a:p>
            <a:pPr algn="l" marL="177292" indent="-177292">
              <a:lnSpc>
                <a:spcPts val="2240"/>
              </a:lnSpc>
              <a:buSzPct val="100000"/>
              <a:buChar char="•"/>
            </a:pPr>
            <a:r>
              <a:rPr lang="en-US" sz="1600" dirty="0">
                <a:solidFill>
                  <a:srgbClr val="DCE2F0"/>
                </a:solidFill>
                <a:latin typeface="Arial" pitchFamily="34" charset="0"/>
                <a:ea typeface="Arial" pitchFamily="34" charset="-122"/>
                <a:cs typeface="Arial" pitchFamily="34" charset="-120"/>
              </a:rPr>
              <a:t>Each witness saw him sign or heard him acknowledge his signature</a:t>
            </a:r>
            <a:endParaRPr lang="en-US" sz="1600" dirty="0"/>
          </a:p>
        </p:txBody>
      </p:sp>
      <p:sp>
        <p:nvSpPr>
          <p:cNvPr id="7" name="Shape 5"/>
          <p:cNvSpPr/>
          <p:nvPr/>
        </p:nvSpPr>
        <p:spPr>
          <a:xfrm>
            <a:off x="6197600" y="2037026"/>
            <a:ext cx="5181600" cy="2778390"/>
          </a:xfrm>
          <a:prstGeom prst="roundRect">
            <a:avLst>
              <a:gd name="adj" fmla="val 3657"/>
            </a:avLst>
          </a:prstGeom>
          <a:solidFill>
            <a:srgbClr val="1F3158"/>
          </a:solidFill>
          <a:ln/>
        </p:spPr>
      </p:sp>
      <p:sp>
        <p:nvSpPr>
          <p:cNvPr id="8" name="Text 6"/>
          <p:cNvSpPr/>
          <p:nvPr/>
        </p:nvSpPr>
        <p:spPr>
          <a:xfrm>
            <a:off x="6502400" y="2341826"/>
            <a:ext cx="470916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ruling</a:t>
            </a:r>
            <a:endParaRPr lang="en-US" sz="2200" dirty="0"/>
          </a:p>
        </p:txBody>
      </p:sp>
      <p:sp>
        <p:nvSpPr>
          <p:cNvPr id="9" name="Text 7"/>
          <p:cNvSpPr/>
          <p:nvPr/>
        </p:nvSpPr>
        <p:spPr>
          <a:xfrm>
            <a:off x="6502400" y="2804055"/>
            <a:ext cx="4709160"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2F0"/>
                </a:solidFill>
                <a:latin typeface="Arial" pitchFamily="34" charset="0"/>
                <a:ea typeface="Arial" pitchFamily="34" charset="-122"/>
                <a:cs typeface="Arial" pitchFamily="34" charset="-120"/>
              </a:rPr>
              <a:t>The High Court read “or” in Section 63(c) as “and”. The Supreme Court disagreed: a witness who saw the testator sign or affix his mark satisfies the attestation requirement.</a:t>
            </a:r>
            <a:endParaRPr lang="en-US" sz="1600" dirty="0"/>
          </a:p>
        </p:txBody>
      </p:sp>
      <p:sp>
        <p:nvSpPr>
          <p:cNvPr id="10" name="Text 8"/>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D4"/>
                </a:solidFill>
                <a:latin typeface="Arial" pitchFamily="34" charset="0"/>
                <a:ea typeface="Arial" pitchFamily="34" charset="-122"/>
                <a:cs typeface="Arial" pitchFamily="34" charset="-120"/>
              </a:rPr>
              <a:t>Topic 3 · Execution of a will · Gopal Krishan (SC, 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997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CASE 4 · ENACTMENT · SUPREME COURT, 17 JULY 2025 (2025 INSC 866)</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Georgia" pitchFamily="18" charset="0"/>
                <a:ea typeface="Georgia" pitchFamily="18" charset="-122"/>
                <a:cs typeface="Georgia" pitchFamily="18" charset="-120"/>
              </a:rPr>
              <a:t>Gurdial Singh v. Jagir Kaur</a:t>
            </a:r>
            <a:endParaRPr lang="en-US" sz="3600" dirty="0"/>
          </a:p>
        </p:txBody>
      </p:sp>
      <p:sp>
        <p:nvSpPr>
          <p:cNvPr id="4" name="Shape 2"/>
          <p:cNvSpPr/>
          <p:nvPr/>
        </p:nvSpPr>
        <p:spPr>
          <a:xfrm>
            <a:off x="812800" y="2037026"/>
            <a:ext cx="6116285" cy="3220244"/>
          </a:xfrm>
          <a:prstGeom prst="roundRect">
            <a:avLst>
              <a:gd name="adj" fmla="val 3155"/>
            </a:avLst>
          </a:prstGeom>
          <a:solidFill>
            <a:srgbClr val="14213D"/>
          </a:solidFill>
          <a:ln/>
        </p:spPr>
      </p:sp>
      <p:sp>
        <p:nvSpPr>
          <p:cNvPr id="5" name="Text 3"/>
          <p:cNvSpPr/>
          <p:nvPr/>
        </p:nvSpPr>
        <p:spPr>
          <a:xfrm>
            <a:off x="1066800" y="2291026"/>
            <a:ext cx="577653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facts</a:t>
            </a:r>
            <a:endParaRPr lang="en-US" sz="2200" dirty="0"/>
          </a:p>
        </p:txBody>
      </p:sp>
      <p:sp>
        <p:nvSpPr>
          <p:cNvPr id="6" name="Text 4"/>
          <p:cNvSpPr/>
          <p:nvPr/>
        </p:nvSpPr>
        <p:spPr>
          <a:xfrm>
            <a:off x="1143508" y="2727855"/>
            <a:ext cx="5692205" cy="2300817"/>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Maya Singh, a retired army havaldar, owned 67 kanals 4 marlas of land</a:t>
            </a:r>
            <a:endParaRPr lang="en-US" sz="1600" dirty="0"/>
          </a:p>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His registered will of 16 May 1991 left it to his nephew, Gurdial Singh</a:t>
            </a:r>
            <a:endParaRPr lang="en-US" sz="1600" dirty="0"/>
          </a:p>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He died in 1991, and his widow, Jagir Kaur, had the land mutated in her name</a:t>
            </a:r>
            <a:endParaRPr lang="en-US" sz="1600" dirty="0"/>
          </a:p>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The lower courts upheld the will, the High Court reversed, and the nephew appealed</a:t>
            </a:r>
            <a:endParaRPr lang="en-US" sz="1600" dirty="0"/>
          </a:p>
        </p:txBody>
      </p:sp>
      <p:sp>
        <p:nvSpPr>
          <p:cNvPr id="7" name="Shape 5"/>
          <p:cNvSpPr/>
          <p:nvPr/>
        </p:nvSpPr>
        <p:spPr>
          <a:xfrm>
            <a:off x="7132285" y="2037026"/>
            <a:ext cx="4246915" cy="3220244"/>
          </a:xfrm>
          <a:prstGeom prst="roundRect">
            <a:avLst>
              <a:gd name="adj" fmla="val 3155"/>
            </a:avLst>
          </a:prstGeom>
          <a:solidFill>
            <a:srgbClr val="14213D"/>
          </a:solidFill>
          <a:ln/>
        </p:spPr>
      </p:sp>
      <p:sp>
        <p:nvSpPr>
          <p:cNvPr id="8" name="Text 6"/>
          <p:cNvSpPr/>
          <p:nvPr/>
        </p:nvSpPr>
        <p:spPr>
          <a:xfrm>
            <a:off x="7386285" y="2291026"/>
            <a:ext cx="385108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cast</a:t>
            </a:r>
            <a:endParaRPr lang="en-US" sz="2200" dirty="0"/>
          </a:p>
        </p:txBody>
      </p:sp>
      <p:sp>
        <p:nvSpPr>
          <p:cNvPr id="9" name="Text 7"/>
          <p:cNvSpPr/>
          <p:nvPr/>
        </p:nvSpPr>
        <p:spPr>
          <a:xfrm>
            <a:off x="7386285" y="2727855"/>
            <a:ext cx="385108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973A"/>
                </a:solidFill>
                <a:latin typeface="Arial" pitchFamily="34" charset="0"/>
                <a:ea typeface="Arial" pitchFamily="34" charset="-122"/>
                <a:cs typeface="Arial" pitchFamily="34" charset="-120"/>
              </a:rPr>
              <a:t>Bench (seated)</a:t>
            </a:r>
            <a:endParaRPr lang="en-US" sz="1200" dirty="0"/>
          </a:p>
        </p:txBody>
      </p:sp>
      <p:sp>
        <p:nvSpPr>
          <p:cNvPr id="10" name="Text 8"/>
          <p:cNvSpPr/>
          <p:nvPr/>
        </p:nvSpPr>
        <p:spPr>
          <a:xfrm>
            <a:off x="7386285" y="3042797"/>
            <a:ext cx="3851083" cy="553685"/>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4EC"/>
                </a:solidFill>
                <a:latin typeface="Arial" pitchFamily="34" charset="0"/>
                <a:ea typeface="Arial" pitchFamily="34" charset="-122"/>
                <a:cs typeface="Arial" pitchFamily="34" charset="-120"/>
              </a:rPr>
              <a:t>Trevor Dcosta</a:t>
            </a:r>
            <a:endParaRPr lang="en-US" sz="1600" dirty="0"/>
          </a:p>
          <a:p>
            <a:pPr algn="l" indent="0" marL="0">
              <a:lnSpc>
                <a:spcPts val="2080"/>
              </a:lnSpc>
              <a:buNone/>
            </a:pPr>
            <a:r>
              <a:rPr lang="en-US" sz="1600" dirty="0">
                <a:solidFill>
                  <a:srgbClr val="F7F4EC"/>
                </a:solidFill>
                <a:latin typeface="Arial" pitchFamily="34" charset="0"/>
                <a:ea typeface="Arial" pitchFamily="34" charset="-122"/>
                <a:cs typeface="Arial" pitchFamily="34" charset="-120"/>
              </a:rPr>
              <a:t>Deepesh Gupta</a:t>
            </a:r>
            <a:endParaRPr lang="en-US" sz="1600" dirty="0"/>
          </a:p>
        </p:txBody>
      </p:sp>
      <p:sp>
        <p:nvSpPr>
          <p:cNvPr id="11" name="Text 9"/>
          <p:cNvSpPr/>
          <p:nvPr/>
        </p:nvSpPr>
        <p:spPr>
          <a:xfrm>
            <a:off x="7386285" y="3672681"/>
            <a:ext cx="385108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973A"/>
                </a:solidFill>
                <a:latin typeface="Arial" pitchFamily="34" charset="0"/>
                <a:ea typeface="Arial" pitchFamily="34" charset="-122"/>
                <a:cs typeface="Arial" pitchFamily="34" charset="-120"/>
              </a:rPr>
              <a:t>Counsel for the nephew</a:t>
            </a:r>
            <a:endParaRPr lang="en-US" sz="1200" dirty="0"/>
          </a:p>
        </p:txBody>
      </p:sp>
      <p:sp>
        <p:nvSpPr>
          <p:cNvPr id="12" name="Text 10"/>
          <p:cNvSpPr/>
          <p:nvPr/>
        </p:nvSpPr>
        <p:spPr>
          <a:xfrm>
            <a:off x="7386285" y="3987623"/>
            <a:ext cx="385108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Sahil Nathwani</a:t>
            </a:r>
            <a:endParaRPr lang="en-US" sz="1600" dirty="0"/>
          </a:p>
        </p:txBody>
      </p:sp>
      <p:sp>
        <p:nvSpPr>
          <p:cNvPr id="13" name="Text 11"/>
          <p:cNvSpPr/>
          <p:nvPr/>
        </p:nvSpPr>
        <p:spPr>
          <a:xfrm>
            <a:off x="7386285" y="4373652"/>
            <a:ext cx="385108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973A"/>
                </a:solidFill>
                <a:latin typeface="Arial" pitchFamily="34" charset="0"/>
                <a:ea typeface="Arial" pitchFamily="34" charset="-122"/>
                <a:cs typeface="Arial" pitchFamily="34" charset="-120"/>
              </a:rPr>
              <a:t>Counsel for the widow</a:t>
            </a:r>
            <a:endParaRPr lang="en-US" sz="1200" dirty="0"/>
          </a:p>
        </p:txBody>
      </p:sp>
      <p:sp>
        <p:nvSpPr>
          <p:cNvPr id="14" name="Text 12"/>
          <p:cNvSpPr/>
          <p:nvPr/>
        </p:nvSpPr>
        <p:spPr>
          <a:xfrm>
            <a:off x="7386285" y="4688594"/>
            <a:ext cx="385108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Tejas Patil</a:t>
            </a:r>
            <a:endParaRPr lang="en-US" sz="1600" dirty="0"/>
          </a:p>
        </p:txBody>
      </p:sp>
      <p:sp>
        <p:nvSpPr>
          <p:cNvPr id="15" name="Text 13"/>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Mock hearing · about 8 minutes · follows the Supreme Court’s published judgment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ENACTMENT · THE ARGUMENTS</a:t>
            </a:r>
            <a:endParaRPr lang="en-US" sz="1200" dirty="0"/>
          </a:p>
        </p:txBody>
      </p:sp>
      <p:sp>
        <p:nvSpPr>
          <p:cNvPr id="3" name="Text 1"/>
          <p:cNvSpPr/>
          <p:nvPr>
            <p:ph type="title"/>
          </p:nvPr>
        </p:nvSpPr>
        <p:spPr>
          <a:xfrm>
            <a:off x="812800" y="12293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4EC"/>
                </a:solidFill>
                <a:latin typeface="Georgia" pitchFamily="18" charset="0"/>
                <a:ea typeface="Georgia" pitchFamily="18" charset="-122"/>
                <a:cs typeface="Georgia" pitchFamily="18" charset="-120"/>
              </a:rPr>
              <a:t>Two sides before the bench</a:t>
            </a:r>
            <a:endParaRPr lang="en-US" sz="3600" dirty="0"/>
          </a:p>
        </p:txBody>
      </p:sp>
      <p:sp>
        <p:nvSpPr>
          <p:cNvPr id="4" name="Text 2"/>
          <p:cNvSpPr/>
          <p:nvPr/>
        </p:nvSpPr>
        <p:spPr>
          <a:xfrm>
            <a:off x="812800" y="1935426"/>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CE2F0"/>
                </a:solidFill>
                <a:latin typeface="Arial" pitchFamily="34" charset="0"/>
                <a:ea typeface="Arial" pitchFamily="34" charset="-122"/>
                <a:cs typeface="Arial" pitchFamily="34" charset="-120"/>
              </a:rPr>
              <a:t>The issue:</a:t>
            </a:r>
            <a:r>
              <a:rPr lang="en-US" sz="1600" dirty="0">
                <a:solidFill>
                  <a:srgbClr val="DCE2F0"/>
                </a:solidFill>
                <a:latin typeface="Arial" pitchFamily="34" charset="0"/>
                <a:ea typeface="Arial" pitchFamily="34" charset="-122"/>
                <a:cs typeface="Arial" pitchFamily="34" charset="-120"/>
              </a:rPr>
              <a:t> is leaving a wife out of a will, with no reason given, a suspicious circumstance?</a:t>
            </a:r>
            <a:endParaRPr lang="en-US" sz="1600" dirty="0"/>
          </a:p>
        </p:txBody>
      </p:sp>
      <p:sp>
        <p:nvSpPr>
          <p:cNvPr id="5" name="Shape 3"/>
          <p:cNvSpPr/>
          <p:nvPr/>
        </p:nvSpPr>
        <p:spPr>
          <a:xfrm>
            <a:off x="812800" y="2423055"/>
            <a:ext cx="5181600" cy="2316251"/>
          </a:xfrm>
          <a:prstGeom prst="roundRect">
            <a:avLst>
              <a:gd name="adj" fmla="val 4386"/>
            </a:avLst>
          </a:prstGeom>
          <a:solidFill>
            <a:srgbClr val="1F3158"/>
          </a:solidFill>
          <a:ln/>
        </p:spPr>
      </p:sp>
      <p:sp>
        <p:nvSpPr>
          <p:cNvPr id="6" name="Text 4"/>
          <p:cNvSpPr/>
          <p:nvPr/>
        </p:nvSpPr>
        <p:spPr>
          <a:xfrm>
            <a:off x="1066800" y="2677055"/>
            <a:ext cx="481380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For the nephew</a:t>
            </a:r>
            <a:endParaRPr lang="en-US" sz="2200" dirty="0"/>
          </a:p>
        </p:txBody>
      </p:sp>
      <p:sp>
        <p:nvSpPr>
          <p:cNvPr id="7" name="Text 5"/>
          <p:cNvSpPr/>
          <p:nvPr/>
        </p:nvSpPr>
        <p:spPr>
          <a:xfrm>
            <a:off x="1143508" y="3113881"/>
            <a:ext cx="4729480" cy="1396824"/>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will is registered</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scribe and a witness proved it, and cross-examination did not shake them</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Leaving out her name does not make it suspect</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She got the money and the pension</a:t>
            </a:r>
            <a:endParaRPr lang="en-US" sz="1600" dirty="0"/>
          </a:p>
        </p:txBody>
      </p:sp>
      <p:sp>
        <p:nvSpPr>
          <p:cNvPr id="8" name="Shape 6"/>
          <p:cNvSpPr/>
          <p:nvPr/>
        </p:nvSpPr>
        <p:spPr>
          <a:xfrm>
            <a:off x="6197600" y="2423055"/>
            <a:ext cx="5181600" cy="2316251"/>
          </a:xfrm>
          <a:prstGeom prst="roundRect">
            <a:avLst>
              <a:gd name="adj" fmla="val 4386"/>
            </a:avLst>
          </a:prstGeom>
          <a:solidFill>
            <a:srgbClr val="1F3158"/>
          </a:solidFill>
          <a:ln/>
        </p:spPr>
      </p:sp>
      <p:sp>
        <p:nvSpPr>
          <p:cNvPr id="9" name="Text 7"/>
          <p:cNvSpPr/>
          <p:nvPr/>
        </p:nvSpPr>
        <p:spPr>
          <a:xfrm>
            <a:off x="6451600" y="2677055"/>
            <a:ext cx="481380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For the widow</a:t>
            </a:r>
            <a:endParaRPr lang="en-US" sz="2200" dirty="0"/>
          </a:p>
        </p:txBody>
      </p:sp>
      <p:sp>
        <p:nvSpPr>
          <p:cNvPr id="10" name="Text 8"/>
          <p:cNvSpPr/>
          <p:nvPr/>
        </p:nvSpPr>
        <p:spPr>
          <a:xfrm>
            <a:off x="6528308" y="3113881"/>
            <a:ext cx="4729480" cy="1396824"/>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She was the lawful wife, living with him till his death</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will never mentions her or gives a reason</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nephew even denied she was a wife</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So the will reflects his voice, not the testator’s</a:t>
            </a:r>
            <a:endParaRPr lang="en-US" sz="1600" dirty="0"/>
          </a:p>
        </p:txBody>
      </p:sp>
      <p:sp>
        <p:nvSpPr>
          <p:cNvPr id="11" name="Text 9"/>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D4"/>
                </a:solidFill>
                <a:latin typeface="Arial" pitchFamily="34" charset="0"/>
                <a:ea typeface="Arial" pitchFamily="34" charset="-122"/>
                <a:cs typeface="Arial" pitchFamily="34" charset="-120"/>
              </a:rPr>
              <a:t>Enactment · Gurdial Singh v. Jagir Kaur (SC, 2025 INSC 866)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ENACTMENT · THE VERDICT</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Appeals dismissed: the will fails</a:t>
            </a:r>
            <a:endParaRPr lang="en-US" sz="3600" dirty="0"/>
          </a:p>
        </p:txBody>
      </p:sp>
      <p:sp>
        <p:nvSpPr>
          <p:cNvPr id="4" name="Shape 2"/>
          <p:cNvSpPr/>
          <p:nvPr/>
        </p:nvSpPr>
        <p:spPr>
          <a:xfrm>
            <a:off x="815975" y="2040201"/>
            <a:ext cx="3384021" cy="2371901"/>
          </a:xfrm>
          <a:prstGeom prst="roundRect">
            <a:avLst>
              <a:gd name="adj" fmla="val 4150"/>
            </a:avLst>
          </a:prstGeom>
          <a:solidFill>
            <a:srgbClr val="FFFDF8"/>
          </a:solidFill>
          <a:ln w="6350">
            <a:solidFill>
              <a:srgbClr val="DDD6C4"/>
            </a:solidFill>
            <a:prstDash val="solid"/>
          </a:ln>
        </p:spPr>
      </p:sp>
      <p:sp>
        <p:nvSpPr>
          <p:cNvPr id="5" name="Text 3"/>
          <p:cNvSpPr/>
          <p:nvPr/>
        </p:nvSpPr>
        <p:spPr>
          <a:xfrm>
            <a:off x="1072444" y="2296672"/>
            <a:ext cx="295721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The burden</a:t>
            </a:r>
            <a:endParaRPr lang="en-US" sz="2200" dirty="0"/>
          </a:p>
        </p:txBody>
      </p:sp>
      <p:sp>
        <p:nvSpPr>
          <p:cNvPr id="6" name="Text 4"/>
          <p:cNvSpPr/>
          <p:nvPr/>
        </p:nvSpPr>
        <p:spPr>
          <a:xfrm>
            <a:off x="1072444" y="2733498"/>
            <a:ext cx="2957214"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The propounder must prove execution under Section 63 and Section 68 of the Evidence Act, and dispel suspicious circumstances.</a:t>
            </a:r>
            <a:endParaRPr lang="en-US" sz="1600" dirty="0"/>
          </a:p>
        </p:txBody>
      </p:sp>
      <p:sp>
        <p:nvSpPr>
          <p:cNvPr id="7" name="Shape 5"/>
          <p:cNvSpPr/>
          <p:nvPr/>
        </p:nvSpPr>
        <p:spPr>
          <a:xfrm>
            <a:off x="4409546" y="2040201"/>
            <a:ext cx="3384109" cy="2371901"/>
          </a:xfrm>
          <a:prstGeom prst="roundRect">
            <a:avLst>
              <a:gd name="adj" fmla="val 4150"/>
            </a:avLst>
          </a:prstGeom>
          <a:solidFill>
            <a:srgbClr val="FFFDF8"/>
          </a:solidFill>
          <a:ln w="6350">
            <a:solidFill>
              <a:srgbClr val="DDD6C4"/>
            </a:solidFill>
            <a:prstDash val="solid"/>
          </a:ln>
        </p:spPr>
      </p:sp>
      <p:sp>
        <p:nvSpPr>
          <p:cNvPr id="8" name="Text 6"/>
          <p:cNvSpPr/>
          <p:nvPr/>
        </p:nvSpPr>
        <p:spPr>
          <a:xfrm>
            <a:off x="4666015" y="2296672"/>
            <a:ext cx="295730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The test</a:t>
            </a:r>
            <a:endParaRPr lang="en-US" sz="2200" dirty="0"/>
          </a:p>
        </p:txBody>
      </p:sp>
      <p:sp>
        <p:nvSpPr>
          <p:cNvPr id="9" name="Text 7"/>
          <p:cNvSpPr/>
          <p:nvPr/>
        </p:nvSpPr>
        <p:spPr>
          <a:xfrm>
            <a:off x="4666015" y="2733498"/>
            <a:ext cx="2957305"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Leaving out an heir is not invalid by itself. The court weighs all the circumstances together.</a:t>
            </a:r>
            <a:endParaRPr lang="en-US" sz="1600" dirty="0"/>
          </a:p>
        </p:txBody>
      </p:sp>
      <p:sp>
        <p:nvSpPr>
          <p:cNvPr id="10" name="Shape 8"/>
          <p:cNvSpPr/>
          <p:nvPr/>
        </p:nvSpPr>
        <p:spPr>
          <a:xfrm>
            <a:off x="8000030" y="2037026"/>
            <a:ext cx="3379170" cy="2378251"/>
          </a:xfrm>
          <a:prstGeom prst="roundRect">
            <a:avLst>
              <a:gd name="adj" fmla="val 4272"/>
            </a:avLst>
          </a:prstGeom>
          <a:solidFill>
            <a:srgbClr val="14213D"/>
          </a:solidFill>
          <a:ln/>
        </p:spPr>
      </p:sp>
      <p:sp>
        <p:nvSpPr>
          <p:cNvPr id="11" name="Text 9"/>
          <p:cNvSpPr/>
          <p:nvPr/>
        </p:nvSpPr>
        <p:spPr>
          <a:xfrm>
            <a:off x="8254030" y="2291026"/>
            <a:ext cx="295730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result</a:t>
            </a:r>
            <a:endParaRPr lang="en-US" sz="2200" dirty="0"/>
          </a:p>
        </p:txBody>
      </p:sp>
      <p:sp>
        <p:nvSpPr>
          <p:cNvPr id="12" name="Text 10"/>
          <p:cNvSpPr/>
          <p:nvPr/>
        </p:nvSpPr>
        <p:spPr>
          <a:xfrm>
            <a:off x="8254030" y="2727855"/>
            <a:ext cx="2957305"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Silence about the wife, no reasons, and the nephew’s denial of her status showed undue influence.</a:t>
            </a:r>
            <a:endParaRPr lang="en-US" sz="1600" dirty="0"/>
          </a:p>
        </p:txBody>
      </p:sp>
      <p:sp>
        <p:nvSpPr>
          <p:cNvPr id="13" name="Text 11"/>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Enactment · Gurdial Singh v. Jagir Kaur (SC, 17 July 2025)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PUTTING IT TOGETHER</a:t>
            </a:r>
            <a:endParaRPr lang="en-US" sz="1200" dirty="0"/>
          </a:p>
        </p:txBody>
      </p:sp>
      <p:sp>
        <p:nvSpPr>
          <p:cNvPr id="3" name="Text 1"/>
          <p:cNvSpPr/>
          <p:nvPr>
            <p:ph type="title"/>
          </p:nvPr>
        </p:nvSpPr>
        <p:spPr>
          <a:xfrm>
            <a:off x="812800" y="12801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A four-point estate planning checklist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2048318"/>
          <a:ext cx="10555111" cy="2189427"/>
        </p:xfrm>
        <a:graphic>
          <a:graphicData uri="http://schemas.openxmlformats.org/drawingml/2006/table">
            <a:tbl>
              <a:tblPr/>
              <a:tblGrid>
                <a:gridCol w="6544169"/>
                <a:gridCol w="4010942"/>
              </a:tblGrid>
              <a:tr h="437885">
                <a:tc>
                  <a:txBody>
                    <a:bodyPr/>
                    <a:lstStyle/>
                    <a:p>
                      <a:pPr indent="0" marL="0">
                        <a:lnSpc>
                          <a:spcPts val="2240"/>
                        </a:lnSpc>
                        <a:buNone/>
                      </a:pPr>
                      <a:r>
                        <a:rPr lang="en-US" sz="1600" b="1" dirty="0">
                          <a:solidFill>
                            <a:srgbClr val="14213D"/>
                          </a:solidFill>
                          <a:latin typeface="Arial" pitchFamily="34" charset="0"/>
                          <a:ea typeface="Arial" pitchFamily="34" charset="-122"/>
                          <a:cs typeface="Arial" pitchFamily="34" charset="-120"/>
                        </a:rPr>
                        <a:t>Planning step</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indent="0" marL="0">
                        <a:lnSpc>
                          <a:spcPts val="2240"/>
                        </a:lnSpc>
                        <a:buNone/>
                      </a:pPr>
                      <a:r>
                        <a:rPr lang="en-US" sz="1600" b="1" dirty="0">
                          <a:solidFill>
                            <a:srgbClr val="14213D"/>
                          </a:solidFill>
                          <a:latin typeface="Arial" pitchFamily="34" charset="0"/>
                          <a:ea typeface="Arial" pitchFamily="34" charset="-122"/>
                          <a:cs typeface="Arial" pitchFamily="34" charset="-120"/>
                        </a:rPr>
                        <a:t>Case behind it</a:t>
                      </a:r>
                      <a:endParaRPr lang="en-US" sz="1600" dirty="0">
                        <a:latin typeface="Arial" charset="0"/>
                        <a:ea typeface="Arial" charset="0"/>
                        <a:cs typeface="Arial" charset="0"/>
                      </a:endParaRPr>
                    </a:p>
                  </a:txBody>
                  <a:tcPr marL="71120" marR="71120" marT="71120" marB="71120" anchor="t">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Confirm which succession law governs</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Mary Roy (1986)</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Draft the will to meet Section 63</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Gopal Krishan (2025)</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Name every natural heir, explain exclusions</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Gurdial Singh (2025)</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Plan the probate route early</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Clarence Pais (2001)</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bl>
          </a:graphicData>
        </a:graphic>
      </p:graphicFrame>
      <p:sp>
        <p:nvSpPr>
          <p:cNvPr id="5" name="Text 2"/>
          <p:cNvSpPr/>
          <p:nvPr/>
        </p:nvSpPr>
        <p:spPr>
          <a:xfrm>
            <a:off x="812800" y="4491744"/>
            <a:ext cx="10566400" cy="640027"/>
          </a:xfrm>
          <a:prstGeom prst="roundRect">
            <a:avLst>
              <a:gd name="adj" fmla="val 15874"/>
            </a:avLst>
          </a:prstGeom>
          <a:solidFill>
            <a:srgbClr val="14213D"/>
          </a:solidFill>
          <a:ln/>
        </p:spPr>
        <p:txBody>
          <a:bodyPr wrap="square" lIns="224242" tIns="148042" rIns="0" bIns="122642"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A registered, properly witnessed will can still fail if it reads like someone else’s will.</a:t>
            </a:r>
            <a:endParaRPr lang="en-US" sz="1600" dirty="0"/>
          </a:p>
        </p:txBody>
      </p:sp>
      <p:sp>
        <p:nvSpPr>
          <p:cNvPr id="6" name="Text 3"/>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Class presentation · not legal advice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9973A"/>
        </a:solidFill>
      </p:bgPr>
    </p:bg>
    <p:spTree>
      <p:nvGrpSpPr>
        <p:cNvPr id="1" name=""/>
        <p:cNvGrpSpPr/>
        <p:nvPr/>
      </p:nvGrpSpPr>
      <p:grpSpPr>
        <a:xfrm>
          <a:off x="0" y="0"/>
          <a:ext cx="0" cy="0"/>
          <a:chOff x="0" y="0"/>
          <a:chExt cx="0" cy="0"/>
        </a:xfrm>
      </p:grpSpPr>
      <p:sp>
        <p:nvSpPr>
          <p:cNvPr id="2" name="Text 0"/>
          <p:cNvSpPr/>
          <p:nvPr/>
        </p:nvSpPr>
        <p:spPr>
          <a:xfrm>
            <a:off x="812800" y="1991959"/>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ESTATE PLANNING · INDIAN SUCCESSION ACT, 1925</a:t>
            </a:r>
            <a:endParaRPr lang="en-US" sz="1200" dirty="0"/>
          </a:p>
        </p:txBody>
      </p:sp>
      <p:sp>
        <p:nvSpPr>
          <p:cNvPr id="3" name="Text 1"/>
          <p:cNvSpPr/>
          <p:nvPr>
            <p:ph type="title"/>
          </p:nvPr>
        </p:nvSpPr>
        <p:spPr>
          <a:xfrm>
            <a:off x="812800" y="2459304"/>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14213D"/>
                </a:solidFill>
                <a:latin typeface="Georgia" pitchFamily="18" charset="0"/>
                <a:ea typeface="Georgia" pitchFamily="18" charset="-122"/>
                <a:cs typeface="Georgia" pitchFamily="18" charset="-120"/>
              </a:rPr>
              <a:t>Thank you</a:t>
            </a:r>
            <a:endParaRPr lang="en-US" sz="6000" dirty="0"/>
          </a:p>
        </p:txBody>
      </p:sp>
      <p:sp>
        <p:nvSpPr>
          <p:cNvPr id="4" name="Text 2"/>
          <p:cNvSpPr/>
          <p:nvPr/>
        </p:nvSpPr>
        <p:spPr>
          <a:xfrm>
            <a:off x="812800" y="3551504"/>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4213D"/>
                </a:solidFill>
                <a:latin typeface="Georgia" pitchFamily="18" charset="0"/>
                <a:ea typeface="Georgia" pitchFamily="18" charset="-122"/>
                <a:cs typeface="Georgia" pitchFamily="18" charset="-120"/>
              </a:rPr>
              <a:t>Questions?</a:t>
            </a:r>
            <a:endParaRPr lang="en-US" sz="2200" dirty="0"/>
          </a:p>
        </p:txBody>
      </p:sp>
      <p:pic>
        <p:nvPicPr>
          <p:cNvPr id="5" name="Image 0" descr="line">    </p:cNvPr>
          <p:cNvPicPr>
            <a:picLocks noChangeAspect="1"/>
          </p:cNvPicPr>
          <p:nvPr/>
        </p:nvPicPr>
        <p:blipFill>
          <a:blip r:embed="rId1"/>
          <a:srcRect l="0" r="0" t="0" b="0"/>
          <a:stretch/>
        </p:blipFill>
        <p:spPr>
          <a:xfrm>
            <a:off x="812800" y="4154754"/>
            <a:ext cx="1016000" cy="25400"/>
          </a:xfrm>
          <a:prstGeom prst="rect">
            <a:avLst/>
          </a:prstGeom>
        </p:spPr>
      </p:pic>
      <p:sp>
        <p:nvSpPr>
          <p:cNvPr id="6" name="Text 3"/>
          <p:cNvSpPr/>
          <p:nvPr/>
        </p:nvSpPr>
        <p:spPr>
          <a:xfrm>
            <a:off x="812800" y="4434154"/>
            <a:ext cx="10883392"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4213D"/>
                </a:solidFill>
                <a:latin typeface="Arial" pitchFamily="34" charset="0"/>
                <a:ea typeface="Arial" pitchFamily="34" charset="-122"/>
                <a:cs typeface="Arial" pitchFamily="34" charset="-120"/>
              </a:rPr>
              <a:t>MSF07 Trevor Dcosta · MSF13 Deepesh Gupta · MSF20 Sahil Nathwani · MSF24 Tejas Patil</a:t>
            </a:r>
            <a:endParaRPr lang="en-US" sz="1200" dirty="0"/>
          </a:p>
        </p:txBody>
      </p:sp>
    </p:spTree>
  </p:cSld>
  <p:clrMapOvr>
    <a:masterClrMapping/>
  </p:clrMapOvr>
</p:sld>
</file>

<file path=ppt/theme/theme1.xml><?xml version="1.0" encoding="utf-8"?>
<a:theme xmlns:a="http://schemas.openxmlformats.org/drawingml/2006/main" name="Estate Planning under the Indian Succession Act">
  <a:themeElements>
    <a:clrScheme name="Estate Planning under the Indian Succession Act">
      <a:dk1>
        <a:srgbClr val="14213D"/>
      </a:dk1>
      <a:lt1>
        <a:srgbClr val="F7F4EC"/>
      </a:lt1>
      <a:dk2>
        <a:srgbClr val="2B364F"/>
      </a:dk2>
      <a:lt2>
        <a:srgbClr val="BEBFC0"/>
      </a:lt2>
      <a:accent1>
        <a:srgbClr val="C9973A"/>
      </a:accent1>
      <a:accent2>
        <a:srgbClr val="8A2D3B"/>
      </a:accent2>
      <a:accent3>
        <a:srgbClr val="1F3158"/>
      </a:accent3>
      <a:accent4>
        <a:srgbClr val="DCE2F0"/>
      </a:accent4>
      <a:accent5>
        <a:srgbClr val="B7C0D4"/>
      </a:accent5>
      <a:accent6>
        <a:srgbClr val="5A6275"/>
      </a:accent6>
      <a:hlink>
        <a:srgbClr val="0563C1"/>
      </a:hlink>
      <a:folHlink>
        <a:srgbClr val="954F72"/>
      </a:folHlink>
    </a:clrScheme>
    <a:fontScheme name="Estate Planning under the Indian Succession Ac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 Planning under the Indian Succession Act</dc:title>
  <dc:subject/>
  <dc:creator/>
  <cp:lastModifiedBy/>
  <cp:revision>1</cp:revision>
  <dcterms:created xsi:type="dcterms:W3CDTF">2026-10-21T11:17:36Z</dcterms:created>
  <dcterms:modified xsi:type="dcterms:W3CDTF">2026-10-21T11:17:36Z</dcterms:modified>
</cp:coreProperties>
</file>